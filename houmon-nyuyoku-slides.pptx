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本日は訪問入浴介護についてお話しします。テーマは「自宅でお風呂に入る権利」。在宅で入浴が困難な方に、どう関わり、どう連携できるかをお伝えします。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入浴困難は「できない理由」が複数重なって起こります。清拭だけでは代替できない意義があることを押さえてください。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3つの選択肢それぞれに限界があること、そしてその間に空白地帯があることが今日の出発点です。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この表が本日の中心です。訪問入浴の列だけがすべて丸になる、という点に注目してください。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4条件のうち3つまでなら他サービスでも満たせます。4つ同時、という点が訪問入浴の存在理由です。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全6ステップ。バイタル確認から記録までが看護師の関わる部分です。中止判断も含めて必ず報告します。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なぜ3名なのか、という質問をよく受けます。安全確保と、看護師が観察に専念できる体制のためです。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ここが訪問入浴の医療的価値です。褥瘡の初期発赤を最初に見つけるのは、入浴の場面が非常に多いです。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デイサービスの方に特にお伝えしたい点です。奪い合いではなく、通所が難しくなった段階での受け皿としてお考えください。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単位数が高いという指摘は当然あります。何が含まれているかを分解して説明できるようにしておきます。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数字では伝わらない部分です。ご家族の負担軽減という側面も強調してください。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4点に整理しました。最後のメッセージ——迷った段階でご相談いただきたい、を強調して締めます。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ご相談は電話が最も早いです。初回アセスメントは無料である点をお伝えください。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2024年10月15日（火）19:00〜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結果として「週1回の清拭のみ」「数か月入浴なし」という状態が生まれます。入浴は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贅沢ではなく、在宅療養を支える医療的・生活的インフラ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訪問介護（清拭）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自宅で受けられ、導入しやすい。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全身浴ではなく洗髪・背部が不十分。温熱効果が得られず、看護職の観察も入らない。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訪問入浴介護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pPr indent="0" marL="0"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「デイには行けない、でも清拭では足りない」——重度化した在宅療養者ほど、この谷間に落ちます。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3つの入浴支援を比べる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514600"/>
                <a:gridCol w="2514600"/>
                <a:gridCol w="2478024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移動・外出が不要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5604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pPr indent="0" marL="0">
              <a:buNone/>
            </a:pPr>
            <a:r>
              <a:rPr lang="en-US" sz="110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寝たきり・医療的ケア可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どれか1つなら他のサービスでも代替できます。しかし「重度化しても、自宅のまま、湯船に浸かり続ける」ことを保証できるのは訪問入浴だけ——ここが在宅療養の継続を左右します。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訪問の流れ（滞在およそ45〜60分）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1721053" cy="1371600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664208"/>
            <a:ext cx="1611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901952"/>
            <a:ext cx="16113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231136"/>
            <a:ext cx="1611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体調の確認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287981" y="1554480"/>
            <a:ext cx="146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34285" y="1554480"/>
            <a:ext cx="1721053" cy="1371600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89149" y="1664208"/>
            <a:ext cx="1611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2489149" y="1901952"/>
            <a:ext cx="16113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機材搬入・設置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489149" y="2231136"/>
            <a:ext cx="1611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浴槽を組立／10〜15分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155338" y="1554480"/>
            <a:ext cx="146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01642" y="1554480"/>
            <a:ext cx="1721053" cy="1371600"/>
          </a:xfrm>
          <a:prstGeom prst="roundRect">
            <a:avLst>
              <a:gd name="adj" fmla="val 40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56506" y="1664208"/>
            <a:ext cx="1611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3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356506" y="1901952"/>
            <a:ext cx="16113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356506" y="2231136"/>
            <a:ext cx="1611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看護師が入浴可否を判断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22696" y="1554480"/>
            <a:ext cx="146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169000" y="1554480"/>
            <a:ext cx="1721053" cy="1371600"/>
          </a:xfrm>
          <a:prstGeom prst="roundRect">
            <a:avLst>
              <a:gd name="adj" fmla="val 40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23864" y="1664208"/>
            <a:ext cx="1611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4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223864" y="1901952"/>
            <a:ext cx="16113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223864" y="2231136"/>
            <a:ext cx="1611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全身浴・洗髪／20〜30分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90053" y="1554480"/>
            <a:ext cx="146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036357" y="1554480"/>
            <a:ext cx="1721053" cy="1371600"/>
          </a:xfrm>
          <a:prstGeom prst="roundRect">
            <a:avLst>
              <a:gd name="adj" fmla="val 40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91221" y="1664208"/>
            <a:ext cx="1611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5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091221" y="1901952"/>
            <a:ext cx="16113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スキンケア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091221" y="2231136"/>
            <a:ext cx="1611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保湿・軟膏塗布・褥瘡処置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757410" y="1554480"/>
            <a:ext cx="146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903714" y="1554480"/>
            <a:ext cx="1721053" cy="1371600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58578" y="1664208"/>
            <a:ext cx="1611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6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9958578" y="1901952"/>
            <a:ext cx="16113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記録・連絡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9958578" y="2231136"/>
            <a:ext cx="1611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関係職種へ報告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455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86384" y="33284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86384" y="37307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242152" y="31455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61608" y="33284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461608" y="37307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車両または屋内の給湯設備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から。ベッドサイドに約2畳のスペースがあれば設置可能。床・寝具の養生も行います。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褥瘡・創傷の観察と処置、軟膏塗布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初期対応と主治医への連絡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553712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3名体制である意味 —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移乗を2名で担うことで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、看護師は介助に追われず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できます。ご家族が介助に入る必要はありません。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処置の申し送り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2286000" cy="1481328"/>
          </a:xfrm>
          <a:prstGeom prst="roundRect">
            <a:avLst>
              <a:gd name="adj" fmla="val 4321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21031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6F3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看護師1名＋介護2名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07792" y="1700784"/>
            <a:ext cx="3840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64992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主治医・在宅医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創部・全身状態の報告／指示の確認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95464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96632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訪問看護ステーション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処置内容の共有／訪問日の調整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364992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状態変化・生活課題のフィードバック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95464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96632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デイサービス・訪問介護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入浴日の分担／スキンケアの継続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「競合」ではありません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デイサービスに通えている間はデイでの入浴を。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体調やADLの低下で通所が難しくなった時期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に訪問入浴が引き継ぐ、という補完関係です。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42152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61608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併用が最も現実的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61608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「デイ入浴＋訪問入浴」「訪問看護の処置＋訪問入浴のスキンケア」。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役割を分け合うことで在宅の限界点が延びます。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6309360" cy="914400"/>
        </p:xfrm>
        <a:graphic>
          <a:graphicData uri="http://schemas.openxmlformats.org/drawingml/2006/table">
            <a:tbl>
              <a:tblPr/>
              <a:tblGrid>
                <a:gridCol w="4343400"/>
                <a:gridCol w="1965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</a:t>
                      </a:r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清拭（身体介護2・30〜60分）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387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清拭（身体介護3・1時間以上）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567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3名（うち看護師1名）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80代・要介護4・ご本人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在宅チームへの情報のハブ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——主治医・訪問看護・CMへその日のうちに共有。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52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521647" y="1746504"/>
            <a:ext cx="2103120" cy="2103120"/>
          </a:xfrm>
          <a:prstGeom prst="roundRect">
            <a:avLst>
              <a:gd name="adj" fmla="val 2609"/>
            </a:avLst>
          </a:prstGeom>
          <a:solidFill>
            <a:srgbClr val="1A5276"/>
          </a:solidFill>
          <a:ln w="19050">
            <a:solidFill>
              <a:srgbClr val="BDC3C7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9521647" y="174650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QRコード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（お問い合わせ用）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アップルハート八幡西訪問入浴センター</cp:lastModifiedBy>
  <cp:revision>1</cp:revision>
  <dcterms:created xsi:type="dcterms:W3CDTF">2026-08-31T07:47:52Z</dcterms:created>
  <dcterms:modified xsi:type="dcterms:W3CDTF">2026-08-31T07:47:52Z</dcterms:modified>
</cp:coreProperties>
</file>