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本日は訪問入浴介護についてお話しします。テーマは「自宅でお風呂に入る権利」。在宅で入浴が困難な方に、どう関わり、どう連携できるかをお伝えします。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入浴困難は「できない理由」が複数重なって起こります。清拭だけでは代替できない意義があることを押さえてください。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3つの選択肢それぞれに限界があること、そしてその間に空白地帯があることが今日の出発点です。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この表が本日の中心です。訪問入浴の列だけがすべて丸になる、という点に注目してください。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4条件のうち3つまでなら他サービスでも満たせます。4つ同時、という点が訪問入浴の存在理由です。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準備・入浴・片付けの3区分、各15分で計45分以内です。入浴可否の判断と記録・連絡が看護師の関わる部分になります。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なぜ3名なのか、という質問をよく受けます。安全確保と、看護師が観察に専念できる体制のためです。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ここが訪問入浴の医療的価値です。褥瘡の初期発赤を最初に見つけるのは、入浴の場面が非常に多いです。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訪問入浴は介護保険サービスなので医療行為はできません。だから訪問看護との連携が前提になります。この線引きを明確にお伝えしてください。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本日いちばんお願いしたい点です。特に訪問看護ステーションの方に向けて、同日訪問と事前相談をお願いしてください。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デイサービスの方に特にお伝えしたい点です。奪い合いではなく、通所が難しくなった段階での受け皿としてお考えください。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単位数が高いという指摘は当然あります。何が含まれているかを分解して説明できるようにしておきます。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数字では伝わらない部分です。ご家族の負担軽減という側面も強調してください。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4点に整理しました。最後のメッセージ——迷った段階でご相談いただきたい、を強調して締めます。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ご相談は電話が最も早いです。初回アセスメントは無料である点をお伝えください。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527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051560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地域在宅医療情報交換会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517904"/>
            <a:ext cx="1105783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自宅でお風呂に入る権利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301752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訪問入浴介護の役割と可能性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3950208"/>
            <a:ext cx="11057839" cy="18288"/>
          </a:xfrm>
          <a:prstGeom prst="rect">
            <a:avLst/>
          </a:prstGeom>
          <a:solidFill>
            <a:srgbClr val="3D6E8C"/>
          </a:solidFill>
          <a:ln w="12700">
            <a:solidFill>
              <a:srgbClr val="3D6E8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4206240"/>
            <a:ext cx="11057839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アップルハート八幡西訪問入浴センター</a:t>
            </a:r>
            <a:endParaRPr lang="en-US" sz="17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C9DCE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管理者・看護師　冨永　一心</a:t>
            </a:r>
            <a:endParaRPr lang="en-US" sz="17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C9DCE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2024年10月15日（火）19:00〜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課題提起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「在宅で入浴できない」という現実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17904"/>
            <a:ext cx="5382616" cy="3063240"/>
          </a:xfrm>
          <a:prstGeom prst="roundRect">
            <a:avLst>
              <a:gd name="adj" fmla="val 1791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86384" y="1700784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入浴を阻む壁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103120"/>
            <a:ext cx="494370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浴槽をまたげない・立位が保てない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浴室が狭く介助スペースがない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ご家族だけでは支えきれない（転倒・腰痛）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医療的ケアがあり不安で踏み切れない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通所への外出そのものが負担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42152" y="1517904"/>
            <a:ext cx="5382616" cy="3063240"/>
          </a:xfrm>
          <a:prstGeom prst="roundRect">
            <a:avLst>
              <a:gd name="adj" fmla="val 1791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61608" y="1700784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入浴がもつ意義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61608" y="2103120"/>
            <a:ext cx="494370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清潔保持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全身の洗浄・洗髪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感染予防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尿路・呼吸器感染リスクの低減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皮膚トラブル予防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褥瘡・浸軟の抑制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QOL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温熱による安楽・睡眠の改善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生きる意欲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「人として当たり前」の回復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828032"/>
            <a:ext cx="1105783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結果として「週1回の清拭のみ」「数か月入浴なし」という状態が生まれます。入浴は</a:t>
            </a:r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贅沢ではなく、在宅療養を支える医療的・生活的インフラ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です。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課題提起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入浴支援の選択肢と、その限界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17904"/>
            <a:ext cx="3551834" cy="2834640"/>
          </a:xfrm>
          <a:prstGeom prst="roundRect">
            <a:avLst>
              <a:gd name="adj" fmla="val 1935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86384" y="17007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訪問介護（清拭）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103120"/>
            <a:ext cx="311292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自宅で受けられ、導入しやすい。
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限界：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全身浴ではなく洗髪・背部が不十分。温熱効果が得られず、看護職の観察も入らない。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19930" y="1517904"/>
            <a:ext cx="3551834" cy="2834640"/>
          </a:xfrm>
          <a:prstGeom prst="roundRect">
            <a:avLst>
              <a:gd name="adj" fmla="val 1935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39386" y="17007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デイサービス入浴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539386" y="2103120"/>
            <a:ext cx="311292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週複数回、社会参加とあわせて実施できる。
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限界：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通所という外出が前提。寝たきり・全介助・医療的ケアがあると受け入れ困難。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72933" y="1517904"/>
            <a:ext cx="3551834" cy="2834640"/>
          </a:xfrm>
          <a:prstGeom prst="roundRect">
            <a:avLst>
              <a:gd name="adj" fmla="val 1935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92389" y="17007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訪問入浴介護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292389" y="2103120"/>
            <a:ext cx="311292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専用浴槽を持ち込み、自宅で全身浴を提供。
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特徴：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看護師同行で重度でも対応可。移動の負担がゼロ。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4590288"/>
            <a:ext cx="11057839" cy="841248"/>
          </a:xfrm>
          <a:prstGeom prst="roundRect">
            <a:avLst>
              <a:gd name="adj" fmla="val 6522"/>
            </a:avLst>
          </a:prstGeom>
          <a:solidFill>
            <a:srgbClr val="FDF3E3"/>
          </a:solidFill>
          <a:ln w="12700">
            <a:solidFill>
              <a:srgbClr val="FDF3E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4590288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770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空白地帯：</a:t>
            </a:r>
            <a:pPr indent="0" marL="0">
              <a:buNone/>
            </a:pP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「デイには行けない、でも清拭では足りない」——重度化した在宅療養者ほど、この谷間に落ちます。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比較・差別化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3つの入浴支援を比べる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81328"/>
          <a:ext cx="11057839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2514600"/>
                <a:gridCol w="2514600"/>
                <a:gridCol w="2478024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項目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訪問入浴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9E7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デイ入浴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清拭・部分浴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自宅で受けられる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全身浴ができる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看護師が同行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重度・寝たきり対応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移動・外出が不要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バイタル・皮膚観察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在宅チームへ情報共有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66928" y="4956048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 対応できる</a:t>
            </a:r>
            <a:pPr indent="0" marL="0">
              <a:buNone/>
            </a:pPr>
            <a:r>
              <a:rPr lang="en-US" sz="1100" dirty="0">
                <a:solidFill>
                  <a:srgbClr val="F39C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　△ 事業所・状態により異なる</a:t>
            </a:r>
            <a:pPr indent="0" marL="0">
              <a:buNone/>
            </a:pPr>
            <a:r>
              <a:rPr lang="en-US" sz="11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　✕ 対応が難しい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比較・差別化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訪問入浴にしかできないこと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54480"/>
            <a:ext cx="2613584" cy="1691640"/>
          </a:xfrm>
          <a:prstGeom prst="roundRect">
            <a:avLst>
              <a:gd name="adj" fmla="val 3784"/>
            </a:avLst>
          </a:prstGeom>
          <a:solidFill>
            <a:srgbClr val="EAF7F1"/>
          </a:solidFill>
          <a:ln w="15875">
            <a:solidFill>
              <a:srgbClr val="1D9E7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617688" y="1773936"/>
            <a:ext cx="512064" cy="512064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617688" y="17739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2395728"/>
            <a:ext cx="2430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自宅で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2724912"/>
            <a:ext cx="2430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移動・外出の負担なし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81680" y="1554480"/>
            <a:ext cx="2613584" cy="1691640"/>
          </a:xfrm>
          <a:prstGeom prst="roundRect">
            <a:avLst>
              <a:gd name="adj" fmla="val 3784"/>
            </a:avLst>
          </a:prstGeom>
          <a:solidFill>
            <a:srgbClr val="EAF7F1"/>
          </a:solidFill>
          <a:ln w="15875">
            <a:solidFill>
              <a:srgbClr val="1D9E7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32440" y="1773936"/>
            <a:ext cx="512064" cy="512064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32440" y="17739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3473120" y="2395728"/>
            <a:ext cx="2430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全身浴を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3473120" y="2724912"/>
            <a:ext cx="2430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洗髪・背部まで温める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96432" y="1554480"/>
            <a:ext cx="2613584" cy="1691640"/>
          </a:xfrm>
          <a:prstGeom prst="roundRect">
            <a:avLst>
              <a:gd name="adj" fmla="val 3784"/>
            </a:avLst>
          </a:prstGeom>
          <a:solidFill>
            <a:srgbClr val="EAF7F1"/>
          </a:solidFill>
          <a:ln w="15875">
            <a:solidFill>
              <a:srgbClr val="1D9E7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47192" y="1773936"/>
            <a:ext cx="512064" cy="512064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247192" y="17739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6287872" y="2395728"/>
            <a:ext cx="2430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看護師付きで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287872" y="2724912"/>
            <a:ext cx="2430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毎回のアセスメント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011183" y="1554480"/>
            <a:ext cx="2613584" cy="1691640"/>
          </a:xfrm>
          <a:prstGeom prst="roundRect">
            <a:avLst>
              <a:gd name="adj" fmla="val 3784"/>
            </a:avLst>
          </a:prstGeom>
          <a:solidFill>
            <a:srgbClr val="EAF7F1"/>
          </a:solidFill>
          <a:ln w="15875">
            <a:solidFill>
              <a:srgbClr val="1D9E7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061943" y="1773936"/>
            <a:ext cx="512064" cy="512064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061943" y="17739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9102623" y="2395728"/>
            <a:ext cx="2430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重度でも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9102623" y="2724912"/>
            <a:ext cx="2430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寝たきり・医療的ケア可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66928" y="3493008"/>
            <a:ext cx="11057839" cy="1170432"/>
          </a:xfrm>
          <a:prstGeom prst="roundRect">
            <a:avLst>
              <a:gd name="adj" fmla="val 5469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86968" y="3493008"/>
            <a:ext cx="10417759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</a:t>
            </a:r>
            <a:pPr algn="ctr" indent="0" marL="0">
              <a:lnSpc>
                <a:spcPct val="125000"/>
              </a:lnSpc>
              <a:buNone/>
            </a:pPr>
            <a:r>
              <a:rPr lang="en-US" sz="22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4つの条件</a:t>
            </a:r>
            <a:pPr algn="ctr" indent="0" marL="0">
              <a:lnSpc>
                <a:spcPct val="12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を同時に満たせるのは、在宅サービスの中で</a:t>
            </a:r>
            <a:pPr algn="ctr" indent="0" marL="0">
              <a:lnSpc>
                <a:spcPct val="125000"/>
              </a:lnSpc>
              <a:buNone/>
            </a:pPr>
            <a:r>
              <a:rPr lang="en-US" sz="22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訪問入浴介護だけ</a:t>
            </a:r>
            <a:pPr algn="ctr" indent="0" marL="0">
              <a:lnSpc>
                <a:spcPct val="12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です。</a:t>
            </a:r>
            <a:endParaRPr lang="en-US" sz="220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4828032"/>
            <a:ext cx="110578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どれか1つなら他のサービスでも代替できます。しかし「重度化しても、自宅のまま、湯船に浸かり続ける」ことを保証できるのは訪問入浴だけ——ここが在宅療養の継続を左右します。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サービスの実際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訪問の流れ（サービス提供時間 45分以内）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54480"/>
            <a:ext cx="3478682" cy="2286000"/>
          </a:xfrm>
          <a:prstGeom prst="roundRect">
            <a:avLst>
              <a:gd name="adj" fmla="val 2800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30781" y="1773936"/>
            <a:ext cx="950976" cy="329184"/>
          </a:xfrm>
          <a:prstGeom prst="roundRect">
            <a:avLst>
              <a:gd name="adj" fmla="val 13889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30781" y="1773936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15分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76656" y="2212848"/>
            <a:ext cx="325922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準備・設置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76656" y="2633472"/>
            <a:ext cx="325922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到着・ご挨拶／当日の体調確認</a:t>
            </a:r>
            <a:endParaRPr lang="en-US" sz="12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専用浴槽の搬入・組立</a:t>
            </a:r>
            <a:endParaRPr lang="en-US" sz="12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バイタル確認と入浴可否の判断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4045610" y="1554480"/>
            <a:ext cx="31089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DC3C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›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4356506" y="1554480"/>
            <a:ext cx="3478682" cy="2286000"/>
          </a:xfrm>
          <a:prstGeom prst="roundRect">
            <a:avLst>
              <a:gd name="adj" fmla="val 2800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620360" y="1773936"/>
            <a:ext cx="950976" cy="329184"/>
          </a:xfrm>
          <a:prstGeom prst="roundRect">
            <a:avLst>
              <a:gd name="adj" fmla="val 13889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620360" y="1773936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15分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466234" y="2212848"/>
            <a:ext cx="325922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　浴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4466234" y="2633472"/>
            <a:ext cx="325922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全身浴・洗髪</a:t>
            </a:r>
            <a:endParaRPr lang="en-US" sz="12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入浴中の全身観察</a:t>
            </a:r>
            <a:endParaRPr lang="en-US" sz="12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（褥瘡・浮腫・皮膚の状態）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835189" y="1554480"/>
            <a:ext cx="31089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DC3C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›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8146085" y="1554480"/>
            <a:ext cx="3478682" cy="2286000"/>
          </a:xfrm>
          <a:prstGeom prst="roundRect">
            <a:avLst>
              <a:gd name="adj" fmla="val 2800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409938" y="1773936"/>
            <a:ext cx="950976" cy="329184"/>
          </a:xfrm>
          <a:prstGeom prst="roundRect">
            <a:avLst>
              <a:gd name="adj" fmla="val 13889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409938" y="1773936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15分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255813" y="2212848"/>
            <a:ext cx="325922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片付け・記録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8255813" y="2633472"/>
            <a:ext cx="325922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更衣・保湿ケア／整容</a:t>
            </a:r>
            <a:endParaRPr lang="en-US" sz="12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機材の撤収・原状復帰</a:t>
            </a:r>
            <a:endParaRPr lang="en-US" sz="12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記録と関係職種への連絡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66928" y="4059936"/>
            <a:ext cx="5382616" cy="1481328"/>
          </a:xfrm>
          <a:prstGeom prst="roundRect">
            <a:avLst>
              <a:gd name="adj" fmla="val 3704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86384" y="4242816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入浴できないと判断した場合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86384" y="4645152"/>
            <a:ext cx="49437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発熱・血圧変動・全身状態の悪化時は、看護師の判断で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清拭や部分浴に切り替え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。中止時もご家族・ケアマネジャーへ理由を報告します。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242152" y="4059936"/>
            <a:ext cx="5382616" cy="1481328"/>
          </a:xfrm>
          <a:prstGeom prst="roundRect">
            <a:avLst>
              <a:gd name="adj" fmla="val 3704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461608" y="4242816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住環境への配慮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6461608" y="4645152"/>
            <a:ext cx="49437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給湯は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車両または屋内の給湯設備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から。ベッドサイドに約2畳のスペースがあれば設置可能。床・寝具の養生も行います。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サービスの実際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スタッフ体制と専門性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17904"/>
            <a:ext cx="5860655" cy="2788920"/>
          </a:xfrm>
          <a:prstGeom prst="roundRect">
            <a:avLst>
              <a:gd name="adj" fmla="val 1967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00784"/>
            <a:ext cx="786384" cy="292608"/>
          </a:xfrm>
          <a:prstGeom prst="roundRect">
            <a:avLst>
              <a:gd name="adj" fmla="val 15625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86384" y="1700784"/>
            <a:ext cx="786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1名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682496" y="170078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86384" y="2139696"/>
            <a:ext cx="5421743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入浴前後の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アセスメント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（バイタル・全身状態）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入浴可否の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その場での判断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褥瘡・創傷の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観察と記録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（処置は訪問看護へ）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急変時の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初期判断と主治医・訪問看護師への連絡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関係職種への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情報提供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628751" y="1517904"/>
            <a:ext cx="4996016" cy="2788920"/>
          </a:xfrm>
          <a:prstGeom prst="roundRect">
            <a:avLst>
              <a:gd name="adj" fmla="val 1967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48207" y="1700784"/>
            <a:ext cx="786384" cy="292608"/>
          </a:xfrm>
          <a:prstGeom prst="roundRect">
            <a:avLst>
              <a:gd name="adj" fmla="val 15625"/>
            </a:avLst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48207" y="1700784"/>
            <a:ext cx="786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2名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744319" y="170078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介護スタッフ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848207" y="2139696"/>
            <a:ext cx="45571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浴槽の搬入・設置・撤去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移乗介助（2名で安全に）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洗身・洗髪、更衣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居室の養生と原状復帰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4553712"/>
            <a:ext cx="11057839" cy="960120"/>
          </a:xfrm>
          <a:prstGeom prst="roundRect">
            <a:avLst>
              <a:gd name="adj" fmla="val 5714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4553712"/>
            <a:ext cx="105457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3名体制である意味 — 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移乗を2名で担うことで</a:t>
            </a:r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転倒・皮膚剥離のリスクを抑え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、看護師は介助に追われず</a:t>
            </a:r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観察と判断に専念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できます。ご家族が介助に入る必要はありません。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看護師の視点・医療連携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入浴は「全身をみる場」です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46304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衣服を脱いだ全身を、明るい場所で、毎回。これは在宅の中で数少ない機会です。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66928" y="1975104"/>
            <a:ext cx="3551834" cy="2487168"/>
          </a:xfrm>
          <a:prstGeom prst="roundRect">
            <a:avLst>
              <a:gd name="adj" fmla="val 2206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86384" y="21579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早期発見できるもの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86384" y="2560320"/>
            <a:ext cx="3112922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仙骨部・踵部の</a:t>
            </a:r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褥瘡の発赤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下腿・足背の</a:t>
            </a:r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浮腫の増悪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白癬・湿疹・スキンテア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内出血・打撲痕（転倒の兆候）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19930" y="1975104"/>
            <a:ext cx="3551834" cy="2487168"/>
          </a:xfrm>
          <a:prstGeom prst="roundRect">
            <a:avLst>
              <a:gd name="adj" fmla="val 2206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39386" y="21579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体格・栄養の把握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539386" y="2560320"/>
            <a:ext cx="3112922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脱衣時の</a:t>
            </a:r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体型変化・筋肉量の減少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骨突出の進行（褥瘡リスク上昇）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皮膚の乾燥・ツルゴール低下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72933" y="1975104"/>
            <a:ext cx="3551834" cy="2487168"/>
          </a:xfrm>
          <a:prstGeom prst="roundRect">
            <a:avLst>
              <a:gd name="adj" fmla="val 2206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92389" y="21579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その日のうちに共有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292389" y="2560320"/>
            <a:ext cx="3112922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主治医へ</a:t>
            </a:r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創部の状態を報告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訪問看護師へ</a:t>
            </a:r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観察所見の申し送り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ケアマネジャーへ</a:t>
            </a:r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状態変化の連絡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必要時は</a:t>
            </a:r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写真記録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を添えて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4700016"/>
            <a:ext cx="11057839" cy="658368"/>
          </a:xfrm>
          <a:prstGeom prst="roundRect">
            <a:avLst>
              <a:gd name="adj" fmla="val 8333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4700016"/>
            <a:ext cx="105457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週1〜2回の入浴は、週1〜2回の全身アセスメントでもあります。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看護師の視点・医療連携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訪問入浴と訪問看護の役割分担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444752"/>
            <a:ext cx="110578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訪問入浴は介護保険サービスであり、</a:t>
            </a:r>
            <a:pPr indent="0" marL="0">
              <a:buNone/>
            </a:pP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医療行為は行えません</a:t>
            </a:r>
            <a:pPr indent="0" marL="0">
              <a:buNone/>
            </a:pPr>
            <a:r>
              <a:rPr lang="en-US" sz="1500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。だからこそ訪問看護との連携が欠かせません。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5382616" cy="2615184"/>
          </a:xfrm>
          <a:prstGeom prst="roundRect">
            <a:avLst>
              <a:gd name="adj" fmla="val 2098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86384" y="2139696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訪問入浴が担うこと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86384" y="2542032"/>
            <a:ext cx="4943704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バイタル測定と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入浴可否の判断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入浴時の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全身観察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（褥瘡・浮腫・皮膚）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洗身・洗髪と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日常的な保湿ケア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観察所見の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記録と当日中の報告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42152" y="1956816"/>
            <a:ext cx="5382616" cy="2615184"/>
          </a:xfrm>
          <a:prstGeom prst="roundRect">
            <a:avLst>
              <a:gd name="adj" fmla="val 2098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61608" y="2139696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訪問看護におつなぎすること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461608" y="2542032"/>
            <a:ext cx="4943704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褥瘡・創傷の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処置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、薬剤の塗布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点滴・注射・採血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カテーテル・ストーマの管理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喀痰吸引・経管栄養の管理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医師の指示に基づく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医療的ケア全般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4736592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4736592"/>
            <a:ext cx="10545775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私たちの役割は</a:t>
            </a:r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「見つけて、つなぐ」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こと。処置は訪問看護へ——この線引きを明確にすることが、安全な在宅ケアにつながります。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看護師の視点・医療連携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訪問看護のみなさまへ ── 連携のお願い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17904"/>
            <a:ext cx="3551834" cy="2926080"/>
          </a:xfrm>
          <a:prstGeom prst="roundRect">
            <a:avLst>
              <a:gd name="adj" fmla="val 1875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86384" y="17007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訪問日を合わせてください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103120"/>
            <a:ext cx="311292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入浴直後は皮膚が清潔で、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創部の観察と処置に最も適した状態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です。同日・入浴後にご訪問いただけると、処置の条件が整います。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19930" y="1517904"/>
            <a:ext cx="3551834" cy="2926080"/>
          </a:xfrm>
          <a:prstGeom prst="roundRect">
            <a:avLst>
              <a:gd name="adj" fmla="val 1875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39386" y="17007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見てほしい部位を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539386" y="2103120"/>
            <a:ext cx="311292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前回の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処置内容と注意部位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を共有いただければ、その点を重点的に観察し、当日中に連絡ノート・電話・必要時は写真でお返しします。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72933" y="1517904"/>
            <a:ext cx="3551834" cy="2926080"/>
          </a:xfrm>
          <a:prstGeom prst="roundRect">
            <a:avLst>
              <a:gd name="adj" fmla="val 1875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92389" y="17007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医療的ケアは事前に相談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292389" y="2103120"/>
            <a:ext cx="311292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気管切開・経管栄養・在宅酸素など。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主治医の指示内容と留意点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を共有いただければ、受け入れ可否と入浴時の注意点を一緒に検討します。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4608576"/>
            <a:ext cx="11057839" cy="868680"/>
          </a:xfrm>
          <a:prstGeom prst="roundRect">
            <a:avLst>
              <a:gd name="adj" fmla="val 7368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1248" y="4608576"/>
            <a:ext cx="1050919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「この状態で入浴させてよいか」——迷った時点でご連絡ください。一緒に判断させてください。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看護師の視点・医療連携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在宅チームの一員として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700784"/>
            <a:ext cx="2286000" cy="1481328"/>
          </a:xfrm>
          <a:prstGeom prst="roundRect">
            <a:avLst>
              <a:gd name="adj" fmla="val 4321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700784"/>
            <a:ext cx="210312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訪問入浴介護</a:t>
            </a:r>
            <a:endParaRPr lang="en-US" sz="16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6F3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看護師1名＋介護2名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2907792" y="1700784"/>
            <a:ext cx="384048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⇄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3364992" y="1700784"/>
            <a:ext cx="4029304" cy="676656"/>
          </a:xfrm>
          <a:prstGeom prst="roundRect">
            <a:avLst>
              <a:gd name="adj" fmla="val 6757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66160" y="1700784"/>
            <a:ext cx="36269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主治医・在宅医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創部・全身状態の報告／指示の確認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7595464" y="1700784"/>
            <a:ext cx="4029304" cy="676656"/>
          </a:xfrm>
          <a:prstGeom prst="roundRect">
            <a:avLst>
              <a:gd name="adj" fmla="val 6757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96632" y="1700784"/>
            <a:ext cx="36269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訪問看護ステーション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観察所見の共有／医療処置の依頼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3364992" y="2487168"/>
            <a:ext cx="4029304" cy="676656"/>
          </a:xfrm>
          <a:prstGeom prst="roundRect">
            <a:avLst>
              <a:gd name="adj" fmla="val 6757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566160" y="2487168"/>
            <a:ext cx="36269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ケアマネジャー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状態変化・生活課題のフィードバック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595464" y="2487168"/>
            <a:ext cx="4029304" cy="676656"/>
          </a:xfrm>
          <a:prstGeom prst="roundRect">
            <a:avLst>
              <a:gd name="adj" fmla="val 6757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96632" y="2487168"/>
            <a:ext cx="36269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デイサービス・訪問介護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入浴日の分担／スキンケアの継続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66928" y="3419856"/>
            <a:ext cx="5382616" cy="1517904"/>
          </a:xfrm>
          <a:prstGeom prst="roundRect">
            <a:avLst>
              <a:gd name="adj" fmla="val 3614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86384" y="3602736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「競合」ではありません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86384" y="4005072"/>
            <a:ext cx="494370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デイサービスに通えている間はデイでの入浴を。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体調やADLの低下で通所が難しくなった時期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に訪問入浴が引き継ぐ、という補完関係です。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242152" y="3419856"/>
            <a:ext cx="5382616" cy="1517904"/>
          </a:xfrm>
          <a:prstGeom prst="roundRect">
            <a:avLst>
              <a:gd name="adj" fmla="val 3614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61608" y="3602736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併用が最も現実的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461608" y="4005072"/>
            <a:ext cx="494370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「デイ入浴＋訪問入浴」「訪問入浴の観察＋訪問看護の処置」。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役割を分け合うことで在宅の限界点が延びます。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介護報酬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単位数と主な加算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81328"/>
          <a:ext cx="6309360" cy="914400"/>
        </p:xfrm>
        <a:graphic>
          <a:graphicData uri="http://schemas.openxmlformats.org/drawingml/2006/table">
            <a:tbl>
              <a:tblPr/>
              <a:tblGrid>
                <a:gridCol w="4343400"/>
                <a:gridCol w="19659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サービス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単位数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訪問入浴介護費</a:t>
                      </a:r>
                      <a:pPr indent="0" marL="0">
                        <a:buNone/>
                      </a:pP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看護師1＋介護2の3名体制・全身浴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1,266</a:t>
                      </a:r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単位/回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清拭（身体介護2・30〜60分）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1A527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387</a:t>
                      </a:r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単位/回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清拭（身体介護3・1時間以上）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1A527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567</a:t>
                      </a:r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単位/回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主な加算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単位数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看取り連携体制加算（2024年新設）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1A527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64</a:t>
                      </a:r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認知症専門ケア加算（Ⅰ）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1A527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単位/日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認知症専門ケア加算（Ⅱ）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1A527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単位/日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66928" y="4901184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※2024年4月改定後の単位数。単価は地域区分により異なります。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7114032" y="1481328"/>
            <a:ext cx="4510735" cy="3310128"/>
          </a:xfrm>
          <a:prstGeom prst="roundRect">
            <a:avLst>
              <a:gd name="adj" fmla="val 1657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33488" y="1664208"/>
            <a:ext cx="40718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単位数をどう読むか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333488" y="2066544"/>
            <a:ext cx="4071823" cy="2578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3名（うち看護師1名）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が同時に訪問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専用浴槽・給湯設備の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持ち込みと設置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清拭では届かない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全身浴・洗髪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毎回の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バイタル測定と全身観察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関係職種への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情報共有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7333488" y="4114800"/>
            <a:ext cx="407182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入浴のみの報酬ではなく、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看護アセスメントを含んだ包括的なケアの対価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としてご検討ください。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利用者・ご家族の声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現場で聞かれる言葉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1298448"/>
          </a:xfrm>
          <a:prstGeom prst="roundRect">
            <a:avLst>
              <a:gd name="adj" fmla="val 4930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50976" y="1700784"/>
            <a:ext cx="10289743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9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「毎週のお風呂が楽しみで、それだけで気持ちが前向きになります。」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950976" y="2432304"/>
            <a:ext cx="1028974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80代・要介護4・ご本人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3090672"/>
            <a:ext cx="11057839" cy="1298448"/>
          </a:xfrm>
          <a:prstGeom prst="roundRect">
            <a:avLst>
              <a:gd name="adj" fmla="val 4930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50976" y="3218688"/>
            <a:ext cx="10289743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9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「一人では絶対に無理でした。プロに任せることで、私も安心して介護できるようになりました。」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950976" y="3950208"/>
            <a:ext cx="1028974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60代・ご家族（介護者）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828032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入浴の効果は清潔だけにとどまりません。</a:t>
            </a:r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ご本人の意欲と、介護するご家族の負担軽減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——その両方に届くケアです。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SUMMARY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まとめ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訪問入浴介護が担う役割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11057839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入浴困難の「空白地帯」を埋める</a:t>
            </a:r>
            <a:pPr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——デイに通えず、清拭では足りない方の受け皿。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「自宅で・全身浴を・看護師付きで・重度でも」の4条件を唯一満たす</a:t>
            </a:r>
            <a:pPr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サービス。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週1〜2回の全身アセスメントの場</a:t>
            </a:r>
            <a:pPr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——褥瘡・浮腫・栄養状態の変化を早期に捉える。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医療行為は行わず「見つけて、つなぐ」</a:t>
            </a:r>
            <a:pPr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——訪問看護と役割を分け合い、その日のうちに情報を共有。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3767328"/>
            <a:ext cx="11057839" cy="1234440"/>
          </a:xfrm>
          <a:prstGeom prst="roundRect">
            <a:avLst>
              <a:gd name="adj" fmla="val 5185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86968" y="3767328"/>
            <a:ext cx="1041775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「もう入浴は難しいかもしれない」と感じた時が、</a:t>
            </a:r>
            <a:endParaRPr lang="en-US" sz="1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9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訪問入浴をご検討いただくタイミングです。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5138928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導入の可否だけでもご相談ください。状態を伺ったうえで、他サービスとの組み合わせを含めてご提案します。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527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CONTACT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41248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連絡先・お問い合わせ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700784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アップルハート八幡西訪問入浴センター</a:t>
            </a:r>
            <a:endParaRPr lang="en-US" sz="23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304288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担当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481328" y="2304288"/>
            <a:ext cx="6035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冨永　一心（管理者・看護師）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779776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TEL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2779776"/>
            <a:ext cx="6035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093-695-7766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255264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FAX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481328" y="3255264"/>
            <a:ext cx="6035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093-695-7767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9521647" y="1746504"/>
            <a:ext cx="2103120" cy="2103120"/>
          </a:xfrm>
          <a:prstGeom prst="roundRect">
            <a:avLst>
              <a:gd name="adj" fmla="val 2609"/>
            </a:avLst>
          </a:prstGeom>
          <a:solidFill>
            <a:srgbClr val="1A5276"/>
          </a:solidFill>
          <a:ln w="19050">
            <a:solidFill>
              <a:srgbClr val="BDC3C7"/>
            </a:solidFill>
            <a:prstDash val="dash"/>
          </a:ln>
        </p:spPr>
      </p:sp>
      <p:sp>
        <p:nvSpPr>
          <p:cNvPr id="12" name="Text 10"/>
          <p:cNvSpPr txBox="1"/>
          <p:nvPr/>
        </p:nvSpPr>
        <p:spPr>
          <a:xfrm>
            <a:off x="9521647" y="1746504"/>
            <a:ext cx="2103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DC3C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QRコード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BDC3C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（お問い合わせ用）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66928" y="4700016"/>
            <a:ext cx="11057839" cy="786384"/>
          </a:xfrm>
          <a:prstGeom prst="roundRect">
            <a:avLst>
              <a:gd name="adj" fmla="val 8140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49808" y="4700016"/>
            <a:ext cx="1069207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まずはご相談から。お気軽にどうぞ。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5614416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CE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初回アセスメントは無料でお伺いします。導入の可否判断からお手伝いします。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自宅でお風呂に入る権利 — 訪問入浴介護の役割と可能性</dc:title>
  <dc:subject>PptxGenJS Presentation</dc:subject>
  <dc:creator>アップルハート八幡西訪問入浴センター</dc:creator>
  <cp:lastModifiedBy>アップルハート八幡西訪問入浴センター</cp:lastModifiedBy>
  <cp:revision>1</cp:revision>
  <dcterms:created xsi:type="dcterms:W3CDTF">2026-08-31T09:41:45Z</dcterms:created>
  <dcterms:modified xsi:type="dcterms:W3CDTF">2026-08-31T09:41:45Z</dcterms:modified>
</cp:coreProperties>
</file>