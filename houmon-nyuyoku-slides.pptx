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402FB-5286-4B0D-8160-BDC8FC6EA286}" v="11" dt="2026-09-11T00:18:0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4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一心 冨永" userId="cee5b40153102c76" providerId="LiveId" clId="{BF059334-9725-4C41-8FAA-8D4F19B9D571}"/>
    <pc:docChg chg="undo redo custSel modSld">
      <pc:chgData name="一心 冨永" userId="cee5b40153102c76" providerId="LiveId" clId="{BF059334-9725-4C41-8FAA-8D4F19B9D571}" dt="2026-09-11T00:19:53.798" v="271" actId="21"/>
      <pc:docMkLst>
        <pc:docMk/>
      </pc:docMkLst>
      <pc:sldChg chg="modSp mod">
        <pc:chgData name="一心 冨永" userId="cee5b40153102c76" providerId="LiveId" clId="{BF059334-9725-4C41-8FAA-8D4F19B9D571}" dt="2026-09-11T00:16:11.074" v="246" actId="20577"/>
        <pc:sldMkLst>
          <pc:docMk/>
          <pc:sldMk cId="0" sldId="257"/>
        </pc:sldMkLst>
        <pc:spChg chg="mod">
          <ac:chgData name="一心 冨永" userId="cee5b40153102c76" providerId="LiveId" clId="{BF059334-9725-4C41-8FAA-8D4F19B9D571}" dt="2026-09-09T12:14:34.746" v="18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4:09.802" v="10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4:38.782" v="20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4:28.793" v="15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一心 冨永" userId="cee5b40153102c76" providerId="LiveId" clId="{BF059334-9725-4C41-8FAA-8D4F19B9D571}" dt="2026-09-11T00:16:11.074" v="246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11T00:16:36.642" v="251"/>
        <pc:sldMkLst>
          <pc:docMk/>
          <pc:sldMk cId="0" sldId="258"/>
        </pc:sldMkLst>
        <pc:spChg chg="mod">
          <ac:chgData name="一心 冨永" userId="cee5b40153102c76" providerId="LiveId" clId="{BF059334-9725-4C41-8FAA-8D4F19B9D571}" dt="2026-09-09T12:15:51.809" v="40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一心 冨永" userId="cee5b40153102c76" providerId="LiveId" clId="{BF059334-9725-4C41-8FAA-8D4F19B9D571}" dt="2026-09-11T00:16:36.642" v="251"/>
          <ac:spMkLst>
            <pc:docMk/>
            <pc:sldMk cId="0" sldId="258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6:07.521" v="4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5:55.634" v="42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5:05.692" v="26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6:20.031" v="4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6:23.849" v="52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5:34.732" v="37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16:48.122" v="68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11T00:18:04.401" v="261"/>
        <pc:sldMkLst>
          <pc:docMk/>
          <pc:sldMk cId="0" sldId="259"/>
        </pc:sldMkLst>
        <pc:spChg chg="mod">
          <ac:chgData name="一心 冨永" userId="cee5b40153102c76" providerId="LiveId" clId="{BF059334-9725-4C41-8FAA-8D4F19B9D571}" dt="2026-09-09T12:09:26.767" v="0" actId="20577"/>
          <ac:spMkLst>
            <pc:docMk/>
            <pc:sldMk cId="0" sldId="259"/>
            <ac:spMk id="9" creationId="{00000000-0000-0000-0000-000000000000}"/>
          </ac:spMkLst>
        </pc:spChg>
        <pc:graphicFrameChg chg="mod">
          <ac:chgData name="一心 冨永" userId="cee5b40153102c76" providerId="LiveId" clId="{BF059334-9725-4C41-8FAA-8D4F19B9D571}" dt="2026-09-11T00:18:04.401" v="261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modSp mod">
        <pc:chgData name="一心 冨永" userId="cee5b40153102c76" providerId="LiveId" clId="{BF059334-9725-4C41-8FAA-8D4F19B9D571}" dt="2026-09-09T12:34:43.851" v="119" actId="20577"/>
        <pc:sldMkLst>
          <pc:docMk/>
          <pc:sldMk cId="0" sldId="260"/>
        </pc:sldMkLst>
        <pc:spChg chg="mod">
          <ac:chgData name="一心 冨永" userId="cee5b40153102c76" providerId="LiveId" clId="{BF059334-9725-4C41-8FAA-8D4F19B9D571}" dt="2026-09-09T12:34:43.851" v="119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20:54.729" v="95" actId="40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21:13.420" v="98" actId="20577"/>
          <ac:spMkLst>
            <pc:docMk/>
            <pc:sldMk cId="0" sldId="260"/>
            <ac:spMk id="28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37:03.554" v="148" actId="20577"/>
        <pc:sldMkLst>
          <pc:docMk/>
          <pc:sldMk cId="0" sldId="261"/>
        </pc:sldMkLst>
        <pc:spChg chg="mod">
          <ac:chgData name="一心 冨永" userId="cee5b40153102c76" providerId="LiveId" clId="{BF059334-9725-4C41-8FAA-8D4F19B9D571}" dt="2026-09-09T12:37:03.554" v="148" actId="20577"/>
          <ac:spMkLst>
            <pc:docMk/>
            <pc:sldMk cId="0" sldId="261"/>
            <ac:spMk id="28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38:28.462" v="167" actId="404"/>
        <pc:sldMkLst>
          <pc:docMk/>
          <pc:sldMk cId="0" sldId="262"/>
        </pc:sldMkLst>
        <pc:spChg chg="mod">
          <ac:chgData name="一心 冨永" userId="cee5b40153102c76" providerId="LiveId" clId="{BF059334-9725-4C41-8FAA-8D4F19B9D571}" dt="2026-09-09T12:37:29.900" v="15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7:16.357" v="152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7:12.637" v="150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7:41" v="159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7:50.826" v="161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7:54.427" v="163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8:28.462" v="167" actId="404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39:43.230" v="185" actId="403"/>
        <pc:sldMkLst>
          <pc:docMk/>
          <pc:sldMk cId="0" sldId="263"/>
        </pc:sldMkLst>
        <pc:spChg chg="mod">
          <ac:chgData name="一心 冨永" userId="cee5b40153102c76" providerId="LiveId" clId="{BF059334-9725-4C41-8FAA-8D4F19B9D571}" dt="2026-09-09T12:38:58.387" v="170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40.065" v="183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16.604" v="178" actId="40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37.049" v="182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31.049" v="180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34.230" v="181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39:43.230" v="185" actId="403"/>
          <ac:spMkLst>
            <pc:docMk/>
            <pc:sldMk cId="0" sldId="263"/>
            <ac:spMk id="17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40:53.143" v="199" actId="20577"/>
        <pc:sldMkLst>
          <pc:docMk/>
          <pc:sldMk cId="0" sldId="264"/>
        </pc:sldMkLst>
        <pc:spChg chg="mod">
          <ac:chgData name="一心 冨永" userId="cee5b40153102c76" providerId="LiveId" clId="{BF059334-9725-4C41-8FAA-8D4F19B9D571}" dt="2026-09-09T12:40:10.507" v="187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0:16.920" v="192" actId="403"/>
          <ac:spMkLst>
            <pc:docMk/>
            <pc:sldMk cId="0" sldId="264"/>
            <ac:spMk id="9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0:13.477" v="189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0:22.583" v="194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0:53.143" v="199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42:22.980" v="215" actId="403"/>
        <pc:sldMkLst>
          <pc:docMk/>
          <pc:sldMk cId="0" sldId="265"/>
        </pc:sldMkLst>
        <pc:spChg chg="mod">
          <ac:chgData name="一心 冨永" userId="cee5b40153102c76" providerId="LiveId" clId="{BF059334-9725-4C41-8FAA-8D4F19B9D571}" dt="2026-09-09T12:41:07.597" v="201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1:27.082" v="214" actId="403"/>
          <ac:spMkLst>
            <pc:docMk/>
            <pc:sldMk cId="0" sldId="265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1:09.832" v="203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1:23.940" v="213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1:11.872" v="205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1:21.293" v="212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2:22.980" v="215" actId="403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43:22.027" v="221" actId="403"/>
        <pc:sldMkLst>
          <pc:docMk/>
          <pc:sldMk cId="0" sldId="266"/>
        </pc:sldMkLst>
        <pc:spChg chg="mod">
          <ac:chgData name="一心 冨永" userId="cee5b40153102c76" providerId="LiveId" clId="{BF059334-9725-4C41-8FAA-8D4F19B9D571}" dt="2026-09-09T12:42:53.213" v="218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3:06.922" v="219" actId="403"/>
          <ac:spMkLst>
            <pc:docMk/>
            <pc:sldMk cId="0" sldId="266"/>
            <ac:spMk id="19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3:16.906" v="220" actId="403"/>
          <ac:spMkLst>
            <pc:docMk/>
            <pc:sldMk cId="0" sldId="266"/>
            <ac:spMk id="21" creationId="{00000000-0000-0000-0000-000000000000}"/>
          </ac:spMkLst>
        </pc:spChg>
        <pc:spChg chg="mod">
          <ac:chgData name="一心 冨永" userId="cee5b40153102c76" providerId="LiveId" clId="{BF059334-9725-4C41-8FAA-8D4F19B9D571}" dt="2026-09-09T12:43:22.027" v="221" actId="403"/>
          <ac:spMkLst>
            <pc:docMk/>
            <pc:sldMk cId="0" sldId="266"/>
            <ac:spMk id="22" creationId="{00000000-0000-0000-0000-000000000000}"/>
          </ac:spMkLst>
        </pc:spChg>
      </pc:sldChg>
      <pc:sldChg chg="modSp mod">
        <pc:chgData name="一心 冨永" userId="cee5b40153102c76" providerId="LiveId" clId="{BF059334-9725-4C41-8FAA-8D4F19B9D571}" dt="2026-09-09T12:44:12.810" v="240" actId="20577"/>
        <pc:sldMkLst>
          <pc:docMk/>
          <pc:sldMk cId="0" sldId="267"/>
        </pc:sldMkLst>
        <pc:graphicFrameChg chg="modGraphic">
          <ac:chgData name="一心 冨永" userId="cee5b40153102c76" providerId="LiveId" clId="{BF059334-9725-4C41-8FAA-8D4F19B9D571}" dt="2026-09-09T12:44:12.810" v="240" actId="20577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一心 冨永" userId="cee5b40153102c76" providerId="LiveId" clId="{BF059334-9725-4C41-8FAA-8D4F19B9D571}" dt="2026-09-11T00:19:11.751" v="267" actId="20577"/>
        <pc:sldMkLst>
          <pc:docMk/>
          <pc:sldMk cId="0" sldId="268"/>
        </pc:sldMkLst>
        <pc:spChg chg="mod">
          <ac:chgData name="一心 冨永" userId="cee5b40153102c76" providerId="LiveId" clId="{BF059334-9725-4C41-8FAA-8D4F19B9D571}" dt="2026-09-11T00:18:45.538" v="264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一心 冨永" userId="cee5b40153102c76" providerId="LiveId" clId="{BF059334-9725-4C41-8FAA-8D4F19B9D571}" dt="2026-09-11T00:19:11.751" v="267" actId="20577"/>
          <ac:spMkLst>
            <pc:docMk/>
            <pc:sldMk cId="0" sldId="268"/>
            <ac:spMk id="11" creationId="{00000000-0000-0000-0000-000000000000}"/>
          </ac:spMkLst>
        </pc:spChg>
      </pc:sldChg>
      <pc:sldChg chg="delSp modSp mod">
        <pc:chgData name="一心 冨永" userId="cee5b40153102c76" providerId="LiveId" clId="{BF059334-9725-4C41-8FAA-8D4F19B9D571}" dt="2026-09-11T00:19:53.798" v="271" actId="21"/>
        <pc:sldMkLst>
          <pc:docMk/>
          <pc:sldMk cId="0" sldId="270"/>
        </pc:sldMkLst>
        <pc:spChg chg="del">
          <ac:chgData name="一心 冨永" userId="cee5b40153102c76" providerId="LiveId" clId="{BF059334-9725-4C41-8FAA-8D4F19B9D571}" dt="2026-09-11T00:19:49.757" v="270" actId="21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一心 冨永" userId="cee5b40153102c76" providerId="LiveId" clId="{BF059334-9725-4C41-8FAA-8D4F19B9D571}" dt="2026-09-11T00:19:53.798" v="271" actId="21"/>
          <ac:spMkLst>
            <pc:docMk/>
            <pc:sldMk cId="0" sldId="270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3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［0:00〜2:00／2分］表紙</a:t>
            </a:r>
          </a:p>
          <a:p>
            <a:r>
              <a:t>・あいさつ／看護師・管理者として地域で訪問入浴に携わっている</a:t>
            </a:r>
          </a:p>
          <a:p>
            <a:r>
              <a:t>・★スタッフ紹介「介護職員の高崎と、武末です」→ 2名が一礼</a:t>
            </a:r>
          </a:p>
          <a:p>
            <a:r>
              <a:t>  「のちほど移乗を、この3人で実際にお見せします」</a:t>
            </a:r>
          </a:p>
          <a:p>
            <a:r>
              <a:t>・「何か月もお風呂に入っていない方が実際にいる」→ ひと呼吸おく</a:t>
            </a:r>
          </a:p>
          <a:p>
            <a:r>
              <a:t>・流れ：動画7分 → スライド → 移乗の実演 → 質疑5分</a:t>
            </a:r>
          </a:p>
          <a:p>
            <a:r>
              <a:t>・「それでは、まず動画をご覧ください」</a:t>
            </a:r>
          </a:p>
          <a:p>
            <a:r>
              <a:t>【動画の前ふり】ご本人・ご家族の同意を得て撮影。浴槽の搬入からお帰りまで。</a:t>
            </a:r>
          </a:p>
          <a:p>
            <a:r>
              <a:t>【再生中】スクリーンの脇に寄る。補足を入れない。</a:t>
            </a:r>
          </a:p>
          <a:p>
            <a:r>
              <a:t>【再生後】「45分以内。その間ずっと看護師が全身を見ています」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［9:30〜12:30／3分］在宅で入浴できない現実</a:t>
            </a:r>
          </a:p>
          <a:p>
            <a:r>
              <a:t>・左＝入浴を阻む5つの壁。「思い当たる顔が浮かぶのでは」で会場を見渡す</a:t>
            </a:r>
          </a:p>
          <a:p>
            <a:r>
              <a:t>・右＝入浴の意義。いちばん下「生きる意欲」を自分の言葉で</a:t>
            </a:r>
          </a:p>
          <a:p>
            <a:r>
              <a:t>  （お湯に浸かって表情が戻る瞬間の話）</a:t>
            </a:r>
          </a:p>
          <a:p>
            <a:r>
              <a:t>・結論「入浴は贅沢ではなく、在宅療養を支えるインフラ」</a:t>
            </a:r>
          </a:p>
          <a:p>
            <a:r>
              <a:t>【押していたら】右の5つは読まず、結論だけ。−1分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［12:30〜15:30／3分］選択肢と限界</a:t>
            </a:r>
          </a:p>
          <a:p>
            <a:r>
              <a:t>・①訪問介護・看護＝浴室環境に左右され1名対応</a:t>
            </a:r>
          </a:p>
          <a:p>
            <a:r>
              <a:t>・②デイ入浴＝通所が前提。重度・医療的ケアで受け入れ困難</a:t>
            </a:r>
          </a:p>
          <a:p>
            <a:r>
              <a:t>・③訪問入浴＝浴槽持込み、看護師同行、移動負担ゼロ</a:t>
            </a:r>
          </a:p>
          <a:p>
            <a:r>
              <a:t>・「③が優れているという話ではありません」← はっきり言う</a:t>
            </a:r>
          </a:p>
          <a:p>
            <a:r>
              <a:t>・結論＝空白地帯「デイには行けない、でも清拭では足りない」</a:t>
            </a:r>
          </a:p>
          <a:p>
            <a:r>
              <a:t>  この谷間の方は自分から声を上げられない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［15:30〜19:30／4分］比較表　★山場</a:t>
            </a:r>
          </a:p>
          <a:p>
            <a:r>
              <a:t>・全部読まない。訪問入浴の「列」を見せる</a:t>
            </a:r>
          </a:p>
          <a:p>
            <a:r>
              <a:t>・拾う行は3つだけ</a:t>
            </a:r>
          </a:p>
          <a:p>
            <a:r>
              <a:t>  ①浴室環境に左右されない（浴槽ごと持参。二階でも寝室でも）</a:t>
            </a:r>
          </a:p>
          <a:p>
            <a:r>
              <a:t>  ②複数名での移乗（3名＝転倒・皮膚剥離を防ぐ）</a:t>
            </a:r>
          </a:p>
          <a:p>
            <a:r>
              <a:t>  ③看護師が同行（後で詳しく）</a:t>
            </a:r>
          </a:p>
          <a:p>
            <a:r>
              <a:t>・下の注記：要介護5が48.2%、要介護4が25.1% ← ゆっくり</a:t>
            </a:r>
          </a:p>
          <a:p>
            <a:r>
              <a:t>・「重度化した在宅療養者の、最後の入浴手段」</a:t>
            </a:r>
          </a:p>
          <a:p>
            <a:r>
              <a:t>【ツッコミ対策】デイを低く見ていない。通所できる方はデイが第一選択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［19:30〜21:30／2分］4つの条件</a:t>
            </a:r>
          </a:p>
          <a:p>
            <a:r>
              <a:t>・「自宅で」「全身浴を」「看護師付きで」「重度でも」</a:t>
            </a:r>
          </a:p>
          <a:p>
            <a:r>
              <a:t>・どれか1つなら他でも代替できる。同時に満たすのが訪問入浴だけ</a:t>
            </a:r>
          </a:p>
          <a:p>
            <a:r>
              <a:t>・「重度化しても、自宅のまま、湯船に浸かり続ける」</a:t>
            </a:r>
          </a:p>
          <a:p>
            <a:r>
              <a:t>・入浴が決め手で施設入所を選ぶご家族を何度も見てきた</a:t>
            </a:r>
          </a:p>
          <a:p>
            <a:r>
              <a:t>【押していたら】4語＋結論だけ。−1分半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［21:30〜23:30／2分］訪問の流れ</a:t>
            </a:r>
          </a:p>
          <a:p>
            <a:r>
              <a:t>・15分＋15分＋15分＝45分以内</a:t>
            </a:r>
          </a:p>
          <a:p>
            <a:r>
              <a:t>・★左下：発熱・血圧変動時は清拭や部分浴に切替、中止も</a:t>
            </a:r>
          </a:p>
          <a:p>
            <a:r>
              <a:t>  「無理に入れないことも私たちの仕事」中止理由も必ず報告</a:t>
            </a:r>
          </a:p>
          <a:p>
            <a:r>
              <a:t>・右下：2畳あれば設置可。給湯は車両でも自宅設備でも。養生あり</a:t>
            </a:r>
          </a:p>
          <a:p>
            <a:r>
              <a:t>・「うちは狭いから無理」と言われたお宅もほとんど入れる</a:t>
            </a:r>
          </a:p>
          <a:p>
            <a:r>
              <a:t>【押していたら】左下と右下だけ。−1分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［23:30〜25:30／2分］3名体制</a:t>
            </a:r>
          </a:p>
          <a:p>
            <a:r>
              <a:t>・看護師1＋介護2。事業所の方針ではなく厚生労働省令の要件</a:t>
            </a:r>
          </a:p>
          <a:p>
            <a:r>
              <a:t>・訪問入浴を使えば必ず看護職員が来る</a:t>
            </a:r>
          </a:p>
          <a:p>
            <a:r>
              <a:t>・看護師＝バイタル／可否判断／褥瘡の観察と記録／急変時連絡／情報提供</a:t>
            </a:r>
          </a:p>
          <a:p>
            <a:r>
              <a:t>・介護2名が移乗を担うので、看護師は観察と判断に専念できる</a:t>
            </a:r>
          </a:p>
          <a:p>
            <a:r>
              <a:t>・★締めに予告「この移乗は、のちほど実際にお見せします」</a:t>
            </a:r>
          </a:p>
          <a:p>
            <a:r>
              <a:t>【押していたら】省令の3名体制＋専念できる＋予告、の3点。−1分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［25:30〜29:00／3分半］入浴は全身をみる場　※今日の中心</a:t>
            </a:r>
          </a:p>
          <a:p>
            <a:r>
              <a:t>・衣服を脱いだ全身を、明るい場所で、毎回</a:t>
            </a:r>
          </a:p>
          <a:p>
            <a:r>
              <a:t>・訪問診療・訪問看護は必要部位を見る。入浴は全身が、湯で伸びた皮膚で見える</a:t>
            </a:r>
          </a:p>
          <a:p>
            <a:r>
              <a:t>・左＝仙骨部・踵部の発赤／下腿・足背の浮腫／白癬・湿疹・スキンテア／</a:t>
            </a:r>
          </a:p>
          <a:p>
            <a:r>
              <a:t>  内出血・打撲痕（転倒の兆候。家族が言い出せないことも）</a:t>
            </a:r>
          </a:p>
          <a:p>
            <a:r>
              <a:t>・中＝体型変化・筋肉量・骨突出（褥瘡リスク上昇）</a:t>
            </a:r>
          </a:p>
          <a:p>
            <a:r>
              <a:t>・右＝その日のうちに主治医・訪看・ケアマネへ。必要なら写真</a:t>
            </a:r>
          </a:p>
          <a:p>
            <a:r>
              <a:t>・「週1〜2回の入浴は、週1〜2回の全身アセスメント」← 言い切って間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［29:00〜32:30／3分半］役割分担　※言い方を変更</a:t>
            </a:r>
          </a:p>
          <a:p>
            <a:r>
              <a:t>・「医療行為は行えません」とは言わない。「役割が違う」で通す</a:t>
            </a:r>
          </a:p>
          <a:p>
            <a:r>
              <a:t>・訪問入浴＝介護保険、訪問看護＝医療保険。担う範囲が違う</a:t>
            </a:r>
          </a:p>
          <a:p>
            <a:r>
              <a:t>・左＝私たち：バイタル／全身観察／洗身洗髪・保湿／記録と当日報告</a:t>
            </a:r>
          </a:p>
          <a:p>
            <a:r>
              <a:t>・★その場でできることはしている</a:t>
            </a:r>
          </a:p>
          <a:p>
            <a:r>
              <a:t>  - 保湿剤・処方された軟膏の塗布（褥瘡の処置を除く）＝医行為に当たらない</a:t>
            </a:r>
          </a:p>
          <a:p>
            <a:r>
              <a:t>  - 急変時の応急対応、吸引にも対応する</a:t>
            </a:r>
          </a:p>
          <a:p>
            <a:r>
              <a:t>  - 「できないのではなく、継続的に担うのが役割ではない」</a:t>
            </a:r>
          </a:p>
          <a:p>
            <a:r>
              <a:t>・右＝訪問看護へ：創傷の継続的処置／点滴注射採血／カテーテル・ストーマ／</a:t>
            </a:r>
          </a:p>
          <a:p>
            <a:r>
              <a:t>  経管栄養／医師の指示による計画的な医療的ケア</a:t>
            </a:r>
          </a:p>
          <a:p>
            <a:r>
              <a:t>・例：仙骨部の発赤 → 当日中に訪看と主治医へ。処置の継続は訪看の役割</a:t>
            </a:r>
          </a:p>
          <a:p>
            <a:r>
              <a:t>・「見つけて、つなぐ。そのうえで、その場でできることはする」</a:t>
            </a:r>
          </a:p>
          <a:p>
            <a:r>
              <a:t>【注意】ふだん実際にやっていることだけを話す。根拠は平成17年の厚労省通知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［32:30〜36:00／3分半］連携のお願い　★山場・今日の本題</a:t>
            </a:r>
          </a:p>
          <a:p>
            <a:r>
              <a:t>・訪問看護の皆さまへ3つ（指を立てて数える）</a:t>
            </a:r>
          </a:p>
          <a:p>
            <a:r>
              <a:t> ①訪問日を合わせてほしい＝入浴直後は皮膚が清潔で処置に最適</a:t>
            </a:r>
          </a:p>
          <a:p>
            <a:r>
              <a:t>   「私たちにとってではなく、ご本人にとって一番いい形」</a:t>
            </a:r>
          </a:p>
          <a:p>
            <a:r>
              <a:t> ②見てほしい部位を教えてほしい＝重点観察し、当日中にノート・電話・写真で返す</a:t>
            </a:r>
          </a:p>
          <a:p>
            <a:r>
              <a:t> ③医療的ケアは事前相談＝気切・経管・在宅酸素も条件を整えれば入れる</a:t>
            </a:r>
          </a:p>
          <a:p>
            <a:r>
              <a:t>・締め「この状態で入浴させてよいか──迷った時点でご連絡ください。</a:t>
            </a:r>
          </a:p>
          <a:p>
            <a:r>
              <a:t>  一緒に判断させてください」← ここで一度止まる</a:t>
            </a:r>
          </a:p>
          <a:p>
            <a:r>
              <a:t>・「できませんと答えるために伺うのではありません」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［36:00〜38:30／2分半］在宅チームの一員として</a:t>
            </a:r>
          </a:p>
          <a:p>
            <a:r>
              <a:t>・上の図：主治医＝創部・全身状態／訪看＝観察所見／ケアマネ＝状態変化／</a:t>
            </a:r>
          </a:p>
          <a:p>
            <a:r>
              <a:t>  デイ・訪問介護＝入浴日の分担</a:t>
            </a:r>
          </a:p>
          <a:p>
            <a:r>
              <a:t>・下の図（手で示す）：左→右へADLが低下</a:t>
            </a:r>
          </a:p>
          <a:p>
            <a:r>
              <a:t>  通所できる時期はデイが第一選択（社会参加の意味がある）</a:t>
            </a:r>
          </a:p>
          <a:p>
            <a:r>
              <a:t>  通所が難しくなったら訪問入浴が引き継ぐ</a:t>
            </a:r>
          </a:p>
          <a:p>
            <a:r>
              <a:t>  ★重なり＝併用期。「デイに週2回行けるが、体調の波で行けない週もある」</a:t>
            </a:r>
          </a:p>
          <a:p>
            <a:r>
              <a:t>・「役割を分け合うことで、ご自宅で過ごせる期間が延びます」</a:t>
            </a:r>
          </a:p>
          <a:p>
            <a:r>
              <a:t>・デイ職員へ：「そろそろ通所がきつい」と感じた時点で声をかけてほしい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［38:30〜41:00／2分半］単位数</a:t>
            </a:r>
          </a:p>
          <a:p>
            <a:r>
              <a:t>・訪問入浴介護費 1回1,266単位／清拭・部分浴 1,139単位</a:t>
            </a:r>
          </a:p>
          <a:p>
            <a:r>
              <a:t>・初回加算200（月1回）／看取り連携体制加算64（2024新設）／</a:t>
            </a:r>
          </a:p>
          <a:p>
            <a:r>
              <a:t>  認知症専門ケアⅠ3・Ⅱ4／処遇改善 加算Ⅱ（ロ）12.7%</a:t>
            </a:r>
          </a:p>
          <a:p>
            <a:r>
              <a:t>・「正直に申し上げて、安くありません」← 自分から言う</a:t>
            </a:r>
          </a:p>
          <a:p>
            <a:r>
              <a:t>・中身：省令の3名同時訪問／浴槽・給湯の持込みと設置撤収／</a:t>
            </a:r>
          </a:p>
          <a:p>
            <a:r>
              <a:t>  清拭では届かない全身浴と洗髪／毎回のバイタルと全身観察／情報共有</a:t>
            </a:r>
          </a:p>
          <a:p>
            <a:r>
              <a:t>・「入浴だけの報酬ではなく、看護アセスメントを含んだケアの対価」</a:t>
            </a:r>
          </a:p>
          <a:p>
            <a:r>
              <a:t>・看取り連携体制加算の新設＝国の方向性</a:t>
            </a:r>
          </a:p>
          <a:p>
            <a:r>
              <a:t>【注意】金額はその場で計算しない。「地域区分で変わるので個別にお出しします」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［41:00〜42:30／1分半］利用者・ご家族の声</a:t>
            </a:r>
          </a:p>
          <a:p>
            <a:r>
              <a:t>・80代要介護5「毎週のお風呂が楽しみで、それだけで前向きに」</a:t>
            </a:r>
          </a:p>
          <a:p>
            <a:r>
              <a:t>・70代ご家族「一人では絶対に無理でした。安心して介護できるように」</a:t>
            </a:r>
          </a:p>
          <a:p>
            <a:r>
              <a:t>・ご本人のためだけでなく、ご家族のためのサービスでもある</a:t>
            </a:r>
          </a:p>
          <a:p>
            <a:r>
              <a:t>【この直後に★移乗デモ（8分）】</a:t>
            </a:r>
          </a:p>
          <a:p>
            <a:r>
              <a:t>  冨永＝説明／高崎・武末＝実演</a:t>
            </a:r>
          </a:p>
          <a:p>
            <a:r>
              <a:t>  抱き上げ／担架／上下移動／座位回転 … それぞれ「どんな方に使うか」を1文</a:t>
            </a:r>
          </a:p>
          <a:p>
            <a:r>
              <a:t>  体験は挙手を待つ。指名しない。腰・首の既往を確認。1人だけ</a:t>
            </a:r>
          </a:p>
          <a:p>
            <a:r>
              <a:t>  手が挙がらなければ、スタッフだけでお見せするに切り替える</a:t>
            </a:r>
          </a:p>
          <a:p>
            <a:r>
              <a:t>【押していたら】このスライドを丸ごと飛ばす。−1分半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［50:30〜52:30／2分］まとめ</a:t>
            </a:r>
          </a:p>
          <a:p>
            <a:r>
              <a:t>・①空白地帯の受け皿　②4条件を同時に満たす唯一　</a:t>
            </a:r>
          </a:p>
          <a:p>
            <a:r>
              <a:t>  ③週1〜2回の全身アセスメント　④見つけて、つなぐ</a:t>
            </a:r>
          </a:p>
          <a:p>
            <a:r>
              <a:t>・「もう入浴は難しいかもしれない」と感じた時が検討のタイミング</a:t>
            </a:r>
          </a:p>
          <a:p>
            <a:r>
              <a:t>・「もう無理だろう」と思われていた方が入れることは多い</a:t>
            </a:r>
          </a:p>
          <a:p>
            <a:r>
              <a:t>・導入の可否のご相談だけでも構いません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［52:30〜54:00／1分半］連絡先</a:t>
            </a:r>
          </a:p>
          <a:p>
            <a:r>
              <a:t>・冨永／093-695-7766 ← ゆっくり、2回言う（スライドを見ずに）</a:t>
            </a:r>
          </a:p>
          <a:p>
            <a:r>
              <a:t>・初回アセスメント無料。「この方、入れますか」だけで結構です</a:t>
            </a:r>
          </a:p>
          <a:p>
            <a:r>
              <a:t>・他サービスとの組み合わせも含めて提案します</a:t>
            </a:r>
          </a:p>
          <a:p>
            <a:r>
              <a:t>・一礼してから質疑へ</a:t>
            </a:r>
          </a:p>
          <a:p>
            <a:r>
              <a:t>【質疑の構え】分からないことは即答しない。</a:t>
            </a:r>
          </a:p>
          <a:p>
            <a:r>
              <a:t>「確認してご連絡します。お名刺をいただけますか」で十分。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［42:30〜50:30／8分］★移乗デモンストレーション</a:t>
            </a:r>
          </a:p>
          <a:p>
            <a:r>
              <a:t>・冨永＝説明と進行／高崎・武末＝実演　※いずれも3名で行うことを先に言う</a:t>
            </a:r>
          </a:p>
          <a:p/>
          <a:p>
            <a:r>
              <a:t>【実演するのは3つ】</a:t>
            </a:r>
          </a:p>
          <a:p>
            <a:r>
              <a:t> 1 抱き上げ　… スタッフ同士で見せる（会場の方は持ち上げない）</a:t>
            </a:r>
          </a:p>
          <a:p>
            <a:r>
              <a:t> 2 担架　　　… ★ここだけ会場の方に体験していただく</a:t>
            </a:r>
          </a:p>
          <a:p>
            <a:r>
              <a:t> 3 上下移動　… スタッフ同士で見せる（車椅子を用意）</a:t>
            </a:r>
          </a:p>
          <a:p>
            <a:r>
              <a:t> ※座位回転はスライドと口頭だけ。「立てる方にはこちら」で足ります</a:t>
            </a:r>
          </a:p>
          <a:p/>
          <a:p>
            <a:r>
              <a:t>【担架のときに言うこと（ひと続きで）】</a:t>
            </a:r>
          </a:p>
          <a:p>
            <a:r>
              <a:t> 体の大きい方、全介助の方。いちばん安全。</a:t>
            </a:r>
          </a:p>
          <a:p>
            <a:r>
              <a:t> 浴槽はベッドの真横に設置 → 持ち上げて運ぶ距離がない。平行に、水平に移すだけ。</a:t>
            </a:r>
          </a:p>
          <a:p>
            <a:r>
              <a:t> ベッドと浴槽の隙間が狭い部屋でもこの平行移動ならできる。狭いお宅ほど担架。</a:t>
            </a:r>
          </a:p>
          <a:p>
            <a:r>
              <a:t> 気管切開の方も担架。頸部を安定させたまま水平に移せる。</a:t>
            </a:r>
          </a:p>
          <a:p>
            <a:r>
              <a:t> 人工呼吸器を外せない方は必ず担架。回路が引っ張られて外れる恐れがあるので。</a:t>
            </a:r>
          </a:p>
          <a:p>
            <a:r>
              <a:t> 締め「平行に、距離を動かさずに移す。これが担架を選ぶいちばんの理由です」</a:t>
            </a:r>
          </a:p>
          <a:p/>
          <a:p>
            <a:r>
              <a:t>【締め＝今日いちばん伝えたいこと】</a:t>
            </a:r>
          </a:p>
          <a:p>
            <a:r>
              <a:t> 方法は固定ではありません。事前訪問で決めて、やってみて</a:t>
            </a:r>
          </a:p>
          <a:p>
            <a:r>
              <a:t> より安全・安楽な方へ変えます。ADLが上がれば座位回転へ。</a:t>
            </a:r>
          </a:p>
          <a:p>
            <a:r>
              <a:t> 変更のつど、ご本人とご家族に確認しています。</a:t>
            </a:r>
          </a:p>
          <a:p/>
          <a:p>
            <a:r>
              <a:t>【体験の進め方】</a:t>
            </a:r>
          </a:p>
          <a:p>
            <a:r>
              <a:t> 挙手を待つ。指名しない。腰・首の既往を確認。1人だけ。</a:t>
            </a:r>
          </a:p>
          <a:p>
            <a:r>
              <a:t> 手が挙がらなければ「ではスタッフでお見せします」に即切り替え。</a:t>
            </a:r>
          </a:p>
          <a:p>
            <a:r>
              <a:t>【押していたら】体験を省いて実演だけ −3分／抱き上げと担架の2つに絞る さらに−2分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地域在宅医療情報交換会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自宅でお風呂に入る権利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0175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訪問入浴介護の役割と可能性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3950208"/>
            <a:ext cx="11057839" cy="18288"/>
          </a:xfrm>
          <a:prstGeom prst="rect">
            <a:avLst/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420624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アップルハート八幡西訪問入浴センター</a:t>
            </a:r>
            <a:endParaRPr lang="en-US" sz="1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管理者・看護師　冨永　一心</a:t>
            </a:r>
            <a:endParaRPr lang="en-US" sz="1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2026年10月15日（木）19:00〜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課題提起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「在宅で入浴できない」という現実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82616" cy="3063240"/>
          </a:xfrm>
          <a:prstGeom prst="roundRect">
            <a:avLst>
              <a:gd name="adj" fmla="val 1791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86384" y="1700784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入浴を阻む壁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03120"/>
            <a:ext cx="49437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浴槽をまたげない・立位が保てない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浴室が狭く介助スペースがない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ご家族だけでは支えきれない（転倒・腰痛）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医療的ケアがあり不安で踏み切れない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通所への外出そのものが負担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2152" y="1517904"/>
            <a:ext cx="5382616" cy="3063240"/>
          </a:xfrm>
          <a:prstGeom prst="roundRect">
            <a:avLst>
              <a:gd name="adj" fmla="val 1791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461608" y="1700784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入浴がもつ意義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103120"/>
            <a:ext cx="49437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清潔保持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全身の洗浄・洗髪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感染予防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尿路・呼吸器感染リスクの低減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皮膚トラブル予防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褥瘡・浸軟の抑制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QOL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温熱による安楽・睡眠の改善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生きる意欲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「人として当たり前」の回復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66929" y="48280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結果として「週1回の清拭のみ」「</a:t>
            </a:r>
            <a:r>
              <a:rPr lang="ja-JP" alt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数か月入浴なし」という状態が生まれます。</a:t>
            </a:r>
            <a:endParaRPr lang="en-US" sz="1500" dirty="0">
              <a:solidFill>
                <a:srgbClr val="1C28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入浴は贅沢ではなく、在宅療養を支える医療的・生活的インフラです。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課題提起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入浴支援の選択肢と、その限界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51834" cy="2834640"/>
          </a:xfrm>
          <a:prstGeom prst="roundRect">
            <a:avLst>
              <a:gd name="adj" fmla="val 1935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86384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訪問介護・訪問看護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03120"/>
            <a:ext cx="31446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自宅の浴室を使い、ヘルパーや看護師が清拭・部分浴も含む。
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限界：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浴室環境に左右され原則1名対応。全介助や寝たきりの方は難しい。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01643" y="1517904"/>
            <a:ext cx="3551834" cy="2834640"/>
          </a:xfrm>
          <a:prstGeom prst="roundRect">
            <a:avLst>
              <a:gd name="adj" fmla="val 1935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539386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r>
              <a:rPr lang="en-US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デイサービス入浴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39386" y="2103120"/>
            <a:ext cx="31129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週複数回、社会参加とあわせて実施できる。
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限界：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通所という外出が前提。寝たきり・全介助・医療的ケアがあると受け入れ困難。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72933" y="1536192"/>
            <a:ext cx="3551834" cy="2834640"/>
          </a:xfrm>
          <a:prstGeom prst="roundRect">
            <a:avLst>
              <a:gd name="adj" fmla="val 19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92389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20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訪問入浴介護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92389" y="2103120"/>
            <a:ext cx="31129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専用浴槽を持ち込み、自宅で全身浴を提供。
</a:t>
            </a: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特徴：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看護師同行で重度でも対応可。移動の負担がゼロ。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6928" y="4590288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4590288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977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空白地帯：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dirty="0" err="1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デイには行けない、でも清拭では足りない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</a:p>
          <a:p>
            <a:pPr marL="0" indent="0">
              <a:buNone/>
            </a:pPr>
            <a:r>
              <a:rPr lang="ja-JP" alt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　　　</a:t>
            </a:r>
            <a:r>
              <a:rPr lang="en-US" dirty="0" err="1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重度化した在宅療養者ほど、この谷間に落ちます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比較・差別化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5つの入浴支援を比べる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59500"/>
              </p:ext>
            </p:extLst>
          </p:nvPr>
        </p:nvGraphicFramePr>
        <p:xfrm>
          <a:off x="566928" y="1444752"/>
          <a:ext cx="11045952" cy="296265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訪問入浴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訪問看護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訪問介護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デイ入浴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清拭・部分浴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自宅で受けられる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全身浴ができる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浴室の環境に左右されない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看護師が同行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複数名での移乗介助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重度・寝たきり対応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バイタル・皮膚観察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C3C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在宅チームへ情報共有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5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altLang="ja-JP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3159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対応できる</a:t>
            </a:r>
            <a:r>
              <a:rPr lang="en-US" sz="1050" dirty="0">
                <a:solidFill>
                  <a:srgbClr val="F39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△ 事業所・状態により異なる</a:t>
            </a:r>
            <a:r>
              <a:rPr lang="en-US" sz="10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✕ 対応が難しい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※「訪問看護」「訪問介護」欄は自宅の浴室での入浴介助を指します。清拭・部分浴はサービス種別を問わず実施される方法です。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4956048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4956048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訪問入浴の利用者は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要介護5が48.2%、要介護4が25.1%</a:t>
            </a:r>
            <a:r>
              <a:rPr lang="en-US" sz="1400" b="1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—約4分の3が要介護4〜5の重度の方です。</a:t>
            </a:r>
            <a:r>
              <a:rPr lang="en-US" sz="11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（日本在宅介護協会 2025年調査）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比較・差別化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訪問入浴にしかできないこと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613584" cy="1691640"/>
          </a:xfrm>
          <a:prstGeom prst="roundRect">
            <a:avLst>
              <a:gd name="adj" fmla="val 3784"/>
            </a:avLst>
          </a:prstGeom>
          <a:solidFill>
            <a:srgbClr val="EAF7F1"/>
          </a:solidFill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617688" y="1773936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61768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395728"/>
            <a:ext cx="243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自宅で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移動・外出の負担なし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1680" y="1554480"/>
            <a:ext cx="2613584" cy="1691640"/>
          </a:xfrm>
          <a:prstGeom prst="roundRect">
            <a:avLst>
              <a:gd name="adj" fmla="val 3784"/>
            </a:avLst>
          </a:prstGeom>
          <a:solidFill>
            <a:srgbClr val="EAF7F1"/>
          </a:solidFill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432440" y="1773936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32440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395728"/>
            <a:ext cx="243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全身浴を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724912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洗髪・背部まで温める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6432" y="1554480"/>
            <a:ext cx="2613584" cy="1691640"/>
          </a:xfrm>
          <a:prstGeom prst="roundRect">
            <a:avLst>
              <a:gd name="adj" fmla="val 3784"/>
            </a:avLst>
          </a:prstGeom>
          <a:solidFill>
            <a:srgbClr val="EAF7F1"/>
          </a:solidFill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247192" y="1773936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47192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287872" y="2395728"/>
            <a:ext cx="243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看護師付きで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87872" y="2724912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毎回のアセスメント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1183" y="1554480"/>
            <a:ext cx="2613584" cy="1691640"/>
          </a:xfrm>
          <a:prstGeom prst="roundRect">
            <a:avLst>
              <a:gd name="adj" fmla="val 3784"/>
            </a:avLst>
          </a:prstGeom>
          <a:solidFill>
            <a:srgbClr val="EAF7F1"/>
          </a:solidFill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0061943" y="1773936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10061943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02623" y="2395728"/>
            <a:ext cx="243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重度でも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102623" y="2724912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寝たきり</a:t>
            </a:r>
            <a:r>
              <a:rPr lang="ja-JP" altLang="en-US" sz="11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・全介助でも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3493008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886968" y="3493008"/>
            <a:ext cx="1041775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</a:t>
            </a:r>
            <a:r>
              <a:rPr lang="en-US" sz="20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4つの条件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を同時に満たせるのは、在宅サービスの中で</a:t>
            </a:r>
            <a:r>
              <a:rPr lang="en-US" sz="20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訪問入浴介護だけ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82803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どれか1つなら他のサービスでも代替できます。しかし「重度化しても、自宅のまま、湯船に浸かり続ける」ことを保証できるのは訪問入浴だけ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ここが在宅療養の継続を左右します</a:t>
            </a:r>
            <a:r>
              <a:rPr lang="en-US" sz="13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サービスの実際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訪問の流れ（サービス提供時間 45分以内）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3478682" cy="2286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30781" y="1773936"/>
            <a:ext cx="950976" cy="329184"/>
          </a:xfrm>
          <a:prstGeom prst="roundRect">
            <a:avLst>
              <a:gd name="adj" fmla="val 13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830781" y="17739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212848"/>
            <a:ext cx="3259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準備・設置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633472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到着・ご挨拶／当日の体調確認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専用浴槽の搬入・組立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バイタル確認と入浴可否の判断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045610" y="155448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DC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56506" y="1554480"/>
            <a:ext cx="3478682" cy="2286000"/>
          </a:xfrm>
          <a:prstGeom prst="roundRect">
            <a:avLst>
              <a:gd name="adj" fmla="val 28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620360" y="1773936"/>
            <a:ext cx="950976" cy="329184"/>
          </a:xfrm>
          <a:prstGeom prst="round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620360" y="17739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66234" y="2212848"/>
            <a:ext cx="3259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　浴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66234" y="2633472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全身浴・洗髪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入浴中の全身観察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（褥瘡・浮腫・皮膚の状態）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35189" y="155448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DC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146085" y="1554480"/>
            <a:ext cx="3478682" cy="2286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409938" y="1773936"/>
            <a:ext cx="950976" cy="329184"/>
          </a:xfrm>
          <a:prstGeom prst="roundRect">
            <a:avLst>
              <a:gd name="adj" fmla="val 13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9409938" y="17739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55813" y="2212848"/>
            <a:ext cx="3259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片付け・記録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55813" y="2633472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更衣・保湿ケア／整容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機材の撤収・原状復帰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記録と関係職種への連絡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5382616" cy="1481328"/>
          </a:xfrm>
          <a:prstGeom prst="roundRect">
            <a:avLst>
              <a:gd name="adj" fmla="val 3704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786384" y="4242816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入浴できないと判断した場合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4645152"/>
            <a:ext cx="494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発熱・血圧変動・全身状態の悪化時は、看護師の判断で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清拭や部分浴に切り替え</a:t>
            </a: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。中止時もご家族・ケアマネジャーへ理由を報告します。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42152" y="4059936"/>
            <a:ext cx="5382616" cy="1481328"/>
          </a:xfrm>
          <a:prstGeom prst="roundRect">
            <a:avLst>
              <a:gd name="adj" fmla="val 3704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461608" y="4242816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住環境への配慮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61608" y="4645152"/>
            <a:ext cx="494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給湯は</a:t>
            </a:r>
            <a:r>
              <a:rPr lang="en-US" sz="1250" b="1" dirty="0" err="1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車両または</a:t>
            </a:r>
            <a:r>
              <a:rPr lang="ja-JP" alt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ご自宅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の給湯設備</a:t>
            </a: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から。ベッドサイドに約2畳</a:t>
            </a:r>
            <a:r>
              <a:rPr lang="ja-JP" alt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程</a:t>
            </a:r>
            <a:r>
              <a:rPr lang="en-US" sz="1250" dirty="0" err="1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のスペースがあれば設置可能。床・寝具の養生も行います</a:t>
            </a: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サービスの実際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スタッフ体制と専門性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860655" cy="2788920"/>
          </a:xfrm>
          <a:prstGeom prst="roundRect">
            <a:avLst>
              <a:gd name="adj" fmla="val 1967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86384" y="1700784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47381" y="172364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1名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82496" y="1700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139696"/>
            <a:ext cx="542174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入浴前後の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アセスメント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（バイタル・全身状態）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入浴可否の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その場での判断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褥瘡・創傷の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観察と記録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（処置は訪問看護へ）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急変時の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初期判断と主治医・訪問看護師への連絡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関係職種への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情報提供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28751" y="1517904"/>
            <a:ext cx="4996016" cy="2788920"/>
          </a:xfrm>
          <a:prstGeom prst="roundRect">
            <a:avLst>
              <a:gd name="adj" fmla="val 1967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848207" y="1700784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848207" y="170078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44319" y="1700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介護スタッフ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48207" y="2139696"/>
            <a:ext cx="4557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浴槽の搬入・設置・撤去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移乗介助（2名で安全に）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洗身・洗髪、更衣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居室の養生と原状復帰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631718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3名体制は省令上の要件です — 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1回の訪問に看護職員1名＋介護職員2名の計3名と厚生労働省令で定められています。移乗を2名で担うため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転倒・皮膚剥離のリスクを抑え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、看護師は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観察と判断に専念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看護師の視点・医療連携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入浴は「全身をみる場」です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衣服を脱いだ全身を、明るい場所で、毎回。これは在宅の中で数少ない機会です。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3551834" cy="2487168"/>
          </a:xfrm>
          <a:prstGeom prst="roundRect">
            <a:avLst>
              <a:gd name="adj" fmla="val 2206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21579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早期発見できるもの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560320"/>
            <a:ext cx="311292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仙骨部・踵部の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褥瘡の発赤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下腿・足背の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浮腫の増悪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白癬・湿疹・スキンテア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内出血・打撲痕（転倒の兆候）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9930" y="1975104"/>
            <a:ext cx="3551834" cy="2487168"/>
          </a:xfrm>
          <a:prstGeom prst="roundRect">
            <a:avLst>
              <a:gd name="adj" fmla="val 2206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539386" y="21579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体格・栄養の把握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539386" y="2560320"/>
            <a:ext cx="311292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脱衣時の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体型変化・筋肉量の減少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骨突出の進行（褥瘡リスク上昇）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皮膚の乾燥・ツルゴール低下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2933" y="1975104"/>
            <a:ext cx="3551834" cy="2487168"/>
          </a:xfrm>
          <a:prstGeom prst="roundRect">
            <a:avLst>
              <a:gd name="adj" fmla="val 2206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92389" y="21579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その日のうちに共有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292389" y="2560320"/>
            <a:ext cx="311292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主治医へ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創部の状態を報告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訪問看護師へ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観察所見の申し送り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ケアマネジャーへ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状態変化の連絡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必要時は</a:t>
            </a:r>
            <a:r>
              <a:rPr lang="en-US" sz="14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写真記録</a:t>
            </a:r>
            <a:r>
              <a:rPr lang="en-US" sz="14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を添えて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700016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700016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週1〜2回の入浴は、週1〜2回の全身アセスメントでもあります。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看護師の視点・医療連携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訪問入浴と訪問看護の役割分担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447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訪問入浴は介護保険のサービスです。医療保険で動く訪問看護とは、担う範囲が違います。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382616" cy="2615184"/>
          </a:xfrm>
          <a:prstGeom prst="roundRect">
            <a:avLst>
              <a:gd name="adj" fmla="val 2098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2139696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訪問入浴が担うこと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542032"/>
            <a:ext cx="494370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バイタル測定と入浴可否の判断</a:t>
            </a:r>
            <a:endParaRPr lang="en-US" dirty="0"/>
          </a:p>
          <a:p>
            <a:pPr/>
            <a:r>
              <a:rPr>
                <a:solidFill>
                  <a:srgbClr val="1C2833"/>
                </a:solidFill>
                <a:latin typeface="Meiryo"/>
              </a:rPr>
              <a:t>入浴時の全身観察（褥瘡・浮腫・皮膚）</a:t>
            </a:r>
          </a:p>
          <a:p>
            <a:pPr/>
            <a:r>
              <a:rPr>
                <a:solidFill>
                  <a:srgbClr val="1C2833"/>
                </a:solidFill>
                <a:latin typeface="Meiryo"/>
              </a:rPr>
              <a:t>洗身・洗髪と日常的な保湿ケア</a:t>
            </a:r>
          </a:p>
          <a:p>
            <a:pPr/>
            <a:r>
              <a:rPr>
                <a:solidFill>
                  <a:srgbClr val="1C2833"/>
                </a:solidFill>
                <a:latin typeface="Meiryo"/>
              </a:rPr>
              <a:t>処方された軟膏の塗布（褥瘡の処置を除く）</a:t>
            </a:r>
          </a:p>
          <a:p>
            <a:pPr/>
            <a:r>
              <a:rPr>
                <a:solidFill>
                  <a:srgbClr val="1C2833"/>
                </a:solidFill>
                <a:latin typeface="Meiryo"/>
              </a:rPr>
              <a:t>発赤時の除圧・保護、急変時の応急対応・吸引</a:t>
            </a:r>
          </a:p>
          <a:p>
            <a:pPr/>
            <a:r>
              <a:rPr>
                <a:solidFill>
                  <a:srgbClr val="1C2833"/>
                </a:solidFill>
                <a:latin typeface="Meiryo"/>
              </a:rPr>
              <a:t>観察所見の記録と当日中の報告</a:t>
            </a:r>
          </a:p>
        </p:txBody>
      </p:sp>
      <p:sp>
        <p:nvSpPr>
          <p:cNvPr id="10" name="Shape 8"/>
          <p:cNvSpPr/>
          <p:nvPr/>
        </p:nvSpPr>
        <p:spPr>
          <a:xfrm>
            <a:off x="6242152" y="1956816"/>
            <a:ext cx="5382616" cy="2615184"/>
          </a:xfrm>
          <a:prstGeom prst="roundRect">
            <a:avLst>
              <a:gd name="adj" fmla="val 2098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461608" y="2139696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訪問看護にお願いしたいこと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542032"/>
            <a:ext cx="494370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褥瘡・創傷の継続的な処置</a:t>
            </a:r>
            <a:endParaRPr lang="en-US" sz="1600" dirty="0"/>
          </a:p>
          <a:p>
            <a:pPr/>
            <a:r>
              <a:rPr sz="1600">
                <a:solidFill>
                  <a:srgbClr val="1C2833"/>
                </a:solidFill>
                <a:latin typeface="Meiryo"/>
              </a:rPr>
              <a:t>点滴・注射・採血</a:t>
            </a:r>
          </a:p>
          <a:p>
            <a:pPr/>
            <a:r>
              <a:rPr sz="1600">
                <a:solidFill>
                  <a:srgbClr val="1C2833"/>
                </a:solidFill>
                <a:latin typeface="Meiryo"/>
              </a:rPr>
              <a:t>カテーテル・ストーマの管理</a:t>
            </a:r>
          </a:p>
          <a:p>
            <a:pPr/>
            <a:r>
              <a:rPr sz="1600">
                <a:solidFill>
                  <a:srgbClr val="1C2833"/>
                </a:solidFill>
                <a:latin typeface="Meiryo"/>
              </a:rPr>
              <a:t>計画的な喀痰吸引・経管栄養の管理</a:t>
            </a:r>
          </a:p>
          <a:p>
            <a:pPr/>
            <a:r>
              <a:rPr sz="1600">
                <a:solidFill>
                  <a:srgbClr val="1C2833"/>
                </a:solidFill>
                <a:latin typeface="Meiryo"/>
              </a:rPr>
              <a:t>医師の指示に基づく計画的な医療的ケア</a:t>
            </a:r>
          </a:p>
        </p:txBody>
      </p:sp>
      <p:sp>
        <p:nvSpPr>
          <p:cNvPr id="13" name="Shape 11"/>
          <p:cNvSpPr/>
          <p:nvPr/>
        </p:nvSpPr>
        <p:spPr>
          <a:xfrm>
            <a:off x="566928" y="473659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736592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 err="1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「できない」のではなく、継続的に担うのが私たちの役割ではない、ということです。</a:t>
            </a:r>
            <a:endParaRPr lang="en-US" dirty="0">
              <a:solidFill>
                <a:srgbClr val="1C28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>
              <a:lnSpc>
                <a:spcPct val="130000"/>
              </a:lnSpc>
            </a:pPr>
            <a:r>
              <a:rPr>
                <a:solidFill>
                  <a:srgbClr val="1C2833"/>
                </a:solidFill>
                <a:latin typeface="Meiryo"/>
              </a:rPr>
              <a:t>見つけて、つなぐ。そのうえで、その場でできることはする。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看護師の視点・医療連携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訪問看護のみなさまへ ── 連携のお願い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51834" cy="2926080"/>
          </a:xfrm>
          <a:prstGeom prst="roundRect">
            <a:avLst>
              <a:gd name="adj" fmla="val 187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86384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訪問日を合わせてください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03120"/>
            <a:ext cx="31129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入浴直後は皮膚が清潔で、</a:t>
            </a:r>
            <a:r>
              <a:rPr lang="en-US" sz="16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創部の観察と処置に最も適した状態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です。同日・入浴後にご訪問いただけると、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処置の条件が整います</a:t>
            </a:r>
            <a:r>
              <a:rPr lang="en-US" sz="16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9930" y="1517904"/>
            <a:ext cx="3551834" cy="2926080"/>
          </a:xfrm>
          <a:prstGeom prst="roundRect">
            <a:avLst>
              <a:gd name="adj" fmla="val 1875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539386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見てほしい部位を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39386" y="2103120"/>
            <a:ext cx="31129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</a:t>
            </a: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処置内容と注意部位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を共有いただければ、その点を重点的に観察し、当日中に連絡ノート・電話・必要時は写真でお返しします。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72933" y="1517904"/>
            <a:ext cx="3551834" cy="2926080"/>
          </a:xfrm>
          <a:prstGeom prst="roundRect">
            <a:avLst>
              <a:gd name="adj" fmla="val 1875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92389" y="1700784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医療的ケアは事前に相談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292389" y="2103120"/>
            <a:ext cx="31129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気管切開・経管栄養・在宅酸素など。</a:t>
            </a:r>
            <a:r>
              <a:rPr lang="en-US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主治医の指示内容と留意点</a:t>
            </a:r>
            <a:r>
              <a:rPr lang="en-US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を共有いただければ、受け入れ可否と入浴時の注意点を一緒に検討します。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" y="4608576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「この状態で入浴させてよいか」——迷った時点でご連絡ください。一緒に判断させてください。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看護師の視点・医療連携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在宅チームの一員として</a:t>
            </a:r>
            <a:endParaRPr lang="en-US" sz="3000" dirty="0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1945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訪問入浴介護</a:t>
            </a:r>
          </a:p>
          <a:p>
            <a:pPr algn="ctr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  <a:latin typeface="Meiryo"/>
              </a:rPr>
              <a:t>看護師1名＋介護2名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3931920" cy="713232"/>
          </a:xfrm>
          <a:prstGeom prst="roundRect">
            <a:avLst>
              <a:gd name="adj" fmla="val 1282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64592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5276"/>
                </a:solidFill>
                <a:latin typeface="Meiryo"/>
              </a:rPr>
              <a:t>主治医・在宅医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45920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>
                <a:solidFill>
                  <a:srgbClr val="566573"/>
                </a:solidFill>
                <a:latin typeface="Meiryo"/>
              </a:rPr>
              <a:t>創部・全身状態の報告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645920"/>
            <a:ext cx="40233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D9E75"/>
                </a:solidFill>
                <a:latin typeface="Meiryo"/>
              </a:rPr>
              <a:t>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45920"/>
            <a:ext cx="3931920" cy="713232"/>
          </a:xfrm>
          <a:prstGeom prst="roundRect">
            <a:avLst>
              <a:gd name="adj" fmla="val 1282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64592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5276"/>
                </a:solidFill>
                <a:latin typeface="Meiryo"/>
              </a:rPr>
              <a:t>訪問看護ステーション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645920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>
                <a:solidFill>
                  <a:srgbClr val="566573"/>
                </a:solidFill>
                <a:latin typeface="Meiryo"/>
              </a:rPr>
              <a:t>観察所見の共有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487168"/>
            <a:ext cx="3931920" cy="713232"/>
          </a:xfrm>
          <a:prstGeom prst="roundRect">
            <a:avLst>
              <a:gd name="adj" fmla="val 1282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2487168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5276"/>
                </a:solidFill>
                <a:latin typeface="Meiryo"/>
              </a:rPr>
              <a:t>ケアマネジャー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487168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>
                <a:solidFill>
                  <a:srgbClr val="566573"/>
                </a:solidFill>
                <a:latin typeface="Meiryo"/>
              </a:rPr>
              <a:t>状態変化の報告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487168"/>
            <a:ext cx="40233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D9E75"/>
                </a:solidFill>
                <a:latin typeface="Meiryo"/>
              </a:rPr>
              <a:t>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487168"/>
            <a:ext cx="3931920" cy="713232"/>
          </a:xfrm>
          <a:prstGeom prst="roundRect">
            <a:avLst>
              <a:gd name="adj" fmla="val 1282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2487168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5276"/>
                </a:solidFill>
                <a:latin typeface="Meiryo"/>
              </a:rPr>
              <a:t>デイサービス・訪問介護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487168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>
                <a:solidFill>
                  <a:srgbClr val="566573"/>
                </a:solidFill>
                <a:latin typeface="Meiryo"/>
              </a:rPr>
              <a:t>入浴日の分担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29584"/>
            <a:ext cx="11045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5276"/>
                </a:solidFill>
                <a:latin typeface="Meiryo"/>
              </a:rPr>
              <a:t>デイサービスとは「競合」ではなく、引き継ぎと併用です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078224"/>
            <a:ext cx="1298448" cy="1408176"/>
          </a:xfrm>
          <a:prstGeom prst="roundRect">
            <a:avLst>
              <a:gd name="adj" fmla="val 7042"/>
            </a:avLst>
          </a:prstGeom>
          <a:solidFill>
            <a:srgbClr val="D6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803904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D9E75"/>
                </a:solidFill>
                <a:latin typeface="Meiryo"/>
              </a:rPr>
              <a:t>併用期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0624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F4F8FA"/>
          </a:solidFill>
          <a:ln w="12700">
            <a:solidFill>
              <a:srgbClr val="1A5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20624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Meiryo"/>
              </a:rPr>
              <a:t>デイサービス（通所）での入浴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919472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919472"/>
            <a:ext cx="6217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訪問入浴（自宅での全身浴）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6928" y="5632704"/>
            <a:ext cx="11045952" cy="128016"/>
          </a:xfrm>
          <a:prstGeom prst="rightArrow">
            <a:avLst/>
          </a:prstGeom>
          <a:solidFill>
            <a:srgbClr val="C7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52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66573"/>
                </a:solidFill>
                <a:latin typeface="Meiryo"/>
              </a:rPr>
              <a:t>ADLが保たれ、通所できる時期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852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66573"/>
                </a:solidFill>
                <a:latin typeface="Meiryo"/>
              </a:rPr>
              <a:t>ADLが低下し、通所が難しくなる時期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236208"/>
            <a:ext cx="11045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D9E75"/>
                </a:solidFill>
                <a:latin typeface="Meiryo"/>
              </a:rPr>
              <a:t>役割を分け合うことで、ご自宅で過ごせる期間が延びます。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介護報酬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単位数と主な加算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727249"/>
              </p:ext>
            </p:extLst>
          </p:nvPr>
        </p:nvGraphicFramePr>
        <p:xfrm>
          <a:off x="566928" y="1481328"/>
          <a:ext cx="6309360" cy="316958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単位数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訪問入浴介護費（1回）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看護師1＋介護2の3名体制・全身浴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1,266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単位/回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清拭・部分浴（1回）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1,139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単位/回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主な加算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単位数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初回加算（月1回）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看取り連携体制加算（2024年新設）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15873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認知症専門ケア加算（Ⅰ）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単位/日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認知症専門ケア加算（Ⅱ）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単位/日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介護職員等処遇改善加算 加算Ⅱ（ロ）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27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12.7</a:t>
                      </a:r>
                      <a:r>
                        <a:rPr lang="en-US" sz="1000" dirty="0">
                          <a:solidFill>
                            <a:srgbClr val="56657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34919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9011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※2024年4月改定後の単位数。処遇改善加算は加算率。単価は地域区分により異なります。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14032" y="1481328"/>
            <a:ext cx="4510735" cy="3310128"/>
          </a:xfrm>
          <a:prstGeom prst="roundRect">
            <a:avLst>
              <a:gd name="adj" fmla="val 1657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7333488" y="1664208"/>
            <a:ext cx="40718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単位数をどう読むか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33488" y="2066544"/>
            <a:ext cx="4071823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3名（うち看護職員1名）</a:t>
            </a: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が同時に訪問（厚生労働省令で定められた体制）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専用浴槽・給湯設備の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持ち込みと設置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清拭では届かない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全身浴・洗髪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毎回の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バイタル測定と全身観察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関係職種への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33488" y="4114800"/>
            <a:ext cx="4071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入浴のみの報酬ではなく、</a:t>
            </a:r>
            <a:r>
              <a:rPr lang="en-US" sz="125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看護アセスメントを含んだ包括的なケアの対価</a:t>
            </a:r>
            <a:r>
              <a:rPr lang="en-US" sz="125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としてご検討ください。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利用者・ご家族の声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現場で聞かれる言葉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1298448"/>
          </a:xfrm>
          <a:prstGeom prst="roundRect">
            <a:avLst>
              <a:gd name="adj" fmla="val 493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1700784"/>
            <a:ext cx="1028974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「毎週のお風呂が楽しみで、それだけで気持ちが前向きになります。」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432304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80代・要介護</a:t>
            </a:r>
            <a:r>
              <a:rPr lang="ja-JP" alt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５</a:t>
            </a: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・ご本人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090672"/>
            <a:ext cx="11057839" cy="1298448"/>
          </a:xfrm>
          <a:prstGeom prst="roundRect">
            <a:avLst>
              <a:gd name="adj" fmla="val 493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3218688"/>
            <a:ext cx="1028974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「一人では絶対に無理でした。プロに任せることで、私も安心して介護できるようになりました。」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950208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７</a:t>
            </a: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0代・ご家族（介護者）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8280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入浴の効果は清潔だけにとどまりません。</a:t>
            </a:r>
            <a:r>
              <a:rPr lang="en-US" sz="1500" b="1" dirty="0">
                <a:solidFill>
                  <a:srgbClr val="1D9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ご本人の意欲と、介護するご家族の負担軽減</a:t>
            </a: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——その両方に届くケアです。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5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eiryo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66573"/>
                </a:solidFill>
                <a:latin typeface="Meiryo"/>
              </a:rPr>
              <a:t>移乗の実演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5276"/>
                </a:solidFill>
                <a:latin typeface="Meiryo"/>
              </a:rPr>
              <a:t>お体を、どうお運びするか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550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66573"/>
                </a:solidFill>
                <a:latin typeface="Meiryo"/>
              </a:rPr>
              <a:t>浴槽へお移しする方法は4つ。いずれも3名で行い、その方の状態に合わせて選びます。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697480" cy="3154680"/>
          </a:xfrm>
          <a:prstGeom prst="roundRect">
            <a:avLst>
              <a:gd name="adj" fmla="val 3389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2697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抱き上げ移動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32887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9E75"/>
                </a:solidFill>
                <a:latin typeface="Meiryo"/>
              </a:rPr>
              <a:t>こんな方に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2833"/>
                </a:solidFill>
                <a:latin typeface="Meiryo"/>
              </a:rPr>
              <a:t>体格が小さく、拘縮の少ない方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7530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5276"/>
                </a:solidFill>
                <a:latin typeface="Meiryo"/>
              </a:rPr>
              <a:t>選ばないのは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31335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66573"/>
                </a:solidFill>
                <a:latin typeface="Meiryo"/>
              </a:rPr>
              <a:t>体重の重い方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544568"/>
            <a:ext cx="2331720" cy="402336"/>
          </a:xfrm>
          <a:prstGeom prst="roundRect">
            <a:avLst>
              <a:gd name="adj" fmla="val 22727"/>
            </a:avLst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54456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D9E75"/>
                </a:solidFill>
                <a:latin typeface="Meiryo"/>
              </a:rPr>
              <a:t>いちばん短時間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874519"/>
            <a:ext cx="2697480" cy="3154680"/>
          </a:xfrm>
          <a:prstGeom prst="roundRect">
            <a:avLst>
              <a:gd name="adj" fmla="val 3389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874519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874519"/>
            <a:ext cx="2697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担架移動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532887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9E75"/>
                </a:solidFill>
                <a:latin typeface="Meiryo"/>
              </a:rPr>
              <a:t>こんな方に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788920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2833"/>
                </a:solidFill>
                <a:latin typeface="Meiryo"/>
              </a:rPr>
              <a:t>体の大きい方、気管切開の方、全介助の方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57530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5276"/>
                </a:solidFill>
                <a:latin typeface="Meiryo"/>
              </a:rPr>
              <a:t>必ずこの方法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831335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66573"/>
                </a:solidFill>
                <a:latin typeface="Meiryo"/>
              </a:rPr>
              <a:t>人工呼吸器を外せない方。回路が引っ張られないように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4544568"/>
            <a:ext cx="2331720" cy="402336"/>
          </a:xfrm>
          <a:prstGeom prst="roundRect">
            <a:avLst>
              <a:gd name="adj" fmla="val 22727"/>
            </a:avLst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454456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D9E75"/>
                </a:solidFill>
                <a:latin typeface="Meiryo"/>
              </a:rPr>
              <a:t>いちばん安全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874519"/>
            <a:ext cx="2697480" cy="3154680"/>
          </a:xfrm>
          <a:prstGeom prst="roundRect">
            <a:avLst>
              <a:gd name="adj" fmla="val 3389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1874519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874519"/>
            <a:ext cx="2697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上下移動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532887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9E75"/>
                </a:solidFill>
                <a:latin typeface="Meiryo"/>
              </a:rPr>
              <a:t>こんな方に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788920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2833"/>
                </a:solidFill>
                <a:latin typeface="Meiryo"/>
              </a:rPr>
              <a:t>車椅子で生活されている方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57530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5276"/>
                </a:solidFill>
                <a:latin typeface="Meiryo"/>
              </a:rPr>
              <a:t>支え方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831335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66573"/>
                </a:solidFill>
                <a:latin typeface="Meiryo"/>
              </a:rPr>
              <a:t>上半身・臀部・下肢を3名で支え、高さを合わせます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4544568"/>
            <a:ext cx="2331720" cy="402336"/>
          </a:xfrm>
          <a:prstGeom prst="roundRect">
            <a:avLst>
              <a:gd name="adj" fmla="val 22727"/>
            </a:avLst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454456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D9E75"/>
                </a:solidFill>
                <a:latin typeface="Meiryo"/>
              </a:rPr>
              <a:t>車椅子から直接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874519"/>
            <a:ext cx="2697480" cy="3154680"/>
          </a:xfrm>
          <a:prstGeom prst="roundRect">
            <a:avLst>
              <a:gd name="adj" fmla="val 3389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33688" y="1874519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33688" y="1874519"/>
            <a:ext cx="2697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座位回転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2532887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9E75"/>
                </a:solidFill>
                <a:latin typeface="Meiryo"/>
              </a:rPr>
              <a:t>こんな方に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7" y="2788920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2833"/>
                </a:solidFill>
                <a:latin typeface="Meiryo"/>
              </a:rPr>
              <a:t>介助で立位がとれ、少し歩ける方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357530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5276"/>
                </a:solidFill>
                <a:latin typeface="Meiryo"/>
              </a:rPr>
              <a:t>選ばないのは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6567" y="3831335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66573"/>
                </a:solidFill>
                <a:latin typeface="Meiryo"/>
              </a:rPr>
              <a:t>立位がとれない方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6567" y="4544568"/>
            <a:ext cx="2331720" cy="402336"/>
          </a:xfrm>
          <a:prstGeom prst="roundRect">
            <a:avLst>
              <a:gd name="adj" fmla="val 22727"/>
            </a:avLst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6567" y="454456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D9E75"/>
                </a:solidFill>
                <a:latin typeface="Meiryo"/>
              </a:rPr>
              <a:t>ご本人の力を残す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30368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230368"/>
            <a:ext cx="1050645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方法は固定ではありません。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50" b="0">
                <a:solidFill>
                  <a:srgbClr val="FFFFFF"/>
                </a:solidFill>
                <a:latin typeface="Meiryo"/>
              </a:rPr>
              <a:t>事前訪問で決め、やってみてより安全・安楽な方へ変えます。ADLが上がれば座位回転へ。変更のつど、ご本人とご家族に確認しています。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291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訪問入浴介護が担う役割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10578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入浴困難の「空白地帯」を埋める</a:t>
            </a: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——デイに通えず、清拭では足りない方の受け皿。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「自宅で・全身浴を・看護師付きで・重度でも」の4条件を唯一満たす</a:t>
            </a: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週1〜2回の全身アセスメントの場</a:t>
            </a: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——褥瘡・浮腫・栄養状態の変化を早期に捉える。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訪問看護とは役割が違う</a:t>
            </a:r>
            <a:r>
              <a:rPr lang="en-US" sz="1500" dirty="0">
                <a:solidFill>
                  <a:srgbClr val="1C28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——見つけて、その場でできることはして、つなぐ。継続的な処置は訪問看護へ。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767328"/>
            <a:ext cx="11057839" cy="1234440"/>
          </a:xfrm>
          <a:prstGeom prst="roundRect">
            <a:avLst>
              <a:gd name="adj" fmla="val 5185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86968" y="3767328"/>
            <a:ext cx="104177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「もう入浴は難しいかもしれない」と感じた時が、</a:t>
            </a:r>
            <a:endParaRPr lang="en-US" sz="1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訪問入浴をご検討いただくタイミングです。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389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5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導入の可否だけでもご相談ください。状態を伺ったうえで、他サービスとの組み合わせを含めてご提案します。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4124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連絡先・お問い合わせ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アップルハート八幡西訪問入浴センター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042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230428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冨永　一心（管理者・看護師）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797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77977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093-695-7766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2552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2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25526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093-695-7767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00016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4700016"/>
            <a:ext cx="1069207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まずはご相談から。お気軽にどうぞ。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61441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初回アセスメントは無料でお伺いします。導入の可否判断からお手伝いします。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1066</Words>
  <Application>Microsoft Office PowerPoint</Application>
  <PresentationFormat>ワイド画面</PresentationFormat>
  <Paragraphs>306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自宅でお風呂に入る権利 — 訪問入浴介護の役割と可能性</dc:title>
  <dc:subject>PptxGenJS Presentation</dc:subject>
  <dc:creator>アップルハート八幡西訪問入浴センター</dc:creator>
  <cp:lastModifiedBy>一心 冨永</cp:lastModifiedBy>
  <cp:revision>1</cp:revision>
  <dcterms:created xsi:type="dcterms:W3CDTF">2026-09-09T12:06:52Z</dcterms:created>
  <dcterms:modified xsi:type="dcterms:W3CDTF">2026-09-11T00:19:54Z</dcterms:modified>
</cp:coreProperties>
</file>