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2402FB-5286-4B0D-8160-BDC8FC6EA286}" v="11" dt="2026-09-11T00:18:04.4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243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一心 冨永" userId="cee5b40153102c76" providerId="LiveId" clId="{BF059334-9725-4C41-8FAA-8D4F19B9D571}"/>
    <pc:docChg chg="undo redo custSel modSld">
      <pc:chgData name="一心 冨永" userId="cee5b40153102c76" providerId="LiveId" clId="{BF059334-9725-4C41-8FAA-8D4F19B9D571}" dt="2026-09-11T00:19:53.798" v="271" actId="21"/>
      <pc:docMkLst>
        <pc:docMk/>
      </pc:docMkLst>
      <pc:sldChg chg="modSp mod">
        <pc:chgData name="一心 冨永" userId="cee5b40153102c76" providerId="LiveId" clId="{BF059334-9725-4C41-8FAA-8D4F19B9D571}" dt="2026-09-11T00:16:11.074" v="246" actId="20577"/>
        <pc:sldMkLst>
          <pc:docMk/>
          <pc:sldMk cId="0" sldId="257"/>
        </pc:sldMkLst>
        <pc:spChg chg="mod">
          <ac:chgData name="一心 冨永" userId="cee5b40153102c76" providerId="LiveId" clId="{BF059334-9725-4C41-8FAA-8D4F19B9D571}" dt="2026-09-09T12:14:34.746" v="18" actId="403"/>
          <ac:spMkLst>
            <pc:docMk/>
            <pc:sldMk cId="0" sldId="257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09.802" v="10" actId="403"/>
          <ac:spMkLst>
            <pc:docMk/>
            <pc:sldMk cId="0" sldId="257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38.782" v="20" actId="403"/>
          <ac:spMkLst>
            <pc:docMk/>
            <pc:sldMk cId="0" sldId="257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28.793" v="15" actId="403"/>
          <ac:spMkLst>
            <pc:docMk/>
            <pc:sldMk cId="0" sldId="257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6:11.074" v="246" actId="20577"/>
          <ac:spMkLst>
            <pc:docMk/>
            <pc:sldMk cId="0" sldId="257"/>
            <ac:spMk id="12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11T00:16:36.642" v="251"/>
        <pc:sldMkLst>
          <pc:docMk/>
          <pc:sldMk cId="0" sldId="258"/>
        </pc:sldMkLst>
        <pc:spChg chg="mod">
          <ac:chgData name="一心 冨永" userId="cee5b40153102c76" providerId="LiveId" clId="{BF059334-9725-4C41-8FAA-8D4F19B9D571}" dt="2026-09-09T12:15:51.809" v="40" actId="403"/>
          <ac:spMkLst>
            <pc:docMk/>
            <pc:sldMk cId="0" sldId="258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6:36.642" v="251"/>
          <ac:spMkLst>
            <pc:docMk/>
            <pc:sldMk cId="0" sldId="258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07.521" v="46" actId="1076"/>
          <ac:spMkLst>
            <pc:docMk/>
            <pc:sldMk cId="0" sldId="258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55.634" v="42" actId="403"/>
          <ac:spMkLst>
            <pc:docMk/>
            <pc:sldMk cId="0" sldId="258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05.692" v="26" actId="403"/>
          <ac:spMkLst>
            <pc:docMk/>
            <pc:sldMk cId="0" sldId="258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20.031" v="49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23.849" v="52" actId="403"/>
          <ac:spMkLst>
            <pc:docMk/>
            <pc:sldMk cId="0" sldId="258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34.732" v="37" actId="403"/>
          <ac:spMkLst>
            <pc:docMk/>
            <pc:sldMk cId="0" sldId="258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48.122" v="68" actId="20577"/>
          <ac:spMkLst>
            <pc:docMk/>
            <pc:sldMk cId="0" sldId="258"/>
            <ac:spMk id="16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11T00:18:04.401" v="261"/>
        <pc:sldMkLst>
          <pc:docMk/>
          <pc:sldMk cId="0" sldId="259"/>
        </pc:sldMkLst>
        <pc:spChg chg="mod">
          <ac:chgData name="一心 冨永" userId="cee5b40153102c76" providerId="LiveId" clId="{BF059334-9725-4C41-8FAA-8D4F19B9D571}" dt="2026-09-09T12:09:26.767" v="0" actId="20577"/>
          <ac:spMkLst>
            <pc:docMk/>
            <pc:sldMk cId="0" sldId="259"/>
            <ac:spMk id="9" creationId="{00000000-0000-0000-0000-000000000000}"/>
          </ac:spMkLst>
        </pc:spChg>
        <pc:graphicFrameChg chg="mod">
          <ac:chgData name="一心 冨永" userId="cee5b40153102c76" providerId="LiveId" clId="{BF059334-9725-4C41-8FAA-8D4F19B9D571}" dt="2026-09-11T00:18:04.401" v="261"/>
          <ac:graphicFrameMkLst>
            <pc:docMk/>
            <pc:sldMk cId="0" sldId="259"/>
            <ac:graphicFrameMk id="6" creationId="{00000000-0000-0000-0000-000000000000}"/>
          </ac:graphicFrameMkLst>
        </pc:graphicFrameChg>
      </pc:sldChg>
      <pc:sldChg chg="modSp mod">
        <pc:chgData name="一心 冨永" userId="cee5b40153102c76" providerId="LiveId" clId="{BF059334-9725-4C41-8FAA-8D4F19B9D571}" dt="2026-09-09T12:34:43.851" v="119" actId="20577"/>
        <pc:sldMkLst>
          <pc:docMk/>
          <pc:sldMk cId="0" sldId="260"/>
        </pc:sldMkLst>
        <pc:spChg chg="mod">
          <ac:chgData name="一心 冨永" userId="cee5b40153102c76" providerId="LiveId" clId="{BF059334-9725-4C41-8FAA-8D4F19B9D571}" dt="2026-09-09T12:34:43.851" v="119" actId="20577"/>
          <ac:spMkLst>
            <pc:docMk/>
            <pc:sldMk cId="0" sldId="260"/>
            <ac:spMk id="2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20:54.729" v="95" actId="404"/>
          <ac:spMkLst>
            <pc:docMk/>
            <pc:sldMk cId="0" sldId="260"/>
            <ac:spMk id="2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21:13.420" v="98" actId="20577"/>
          <ac:spMkLst>
            <pc:docMk/>
            <pc:sldMk cId="0" sldId="260"/>
            <ac:spMk id="28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7:03.554" v="148" actId="20577"/>
        <pc:sldMkLst>
          <pc:docMk/>
          <pc:sldMk cId="0" sldId="261"/>
        </pc:sldMkLst>
        <pc:spChg chg="mod">
          <ac:chgData name="一心 冨永" userId="cee5b40153102c76" providerId="LiveId" clId="{BF059334-9725-4C41-8FAA-8D4F19B9D571}" dt="2026-09-09T12:37:03.554" v="148" actId="20577"/>
          <ac:spMkLst>
            <pc:docMk/>
            <pc:sldMk cId="0" sldId="261"/>
            <ac:spMk id="28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8:28.462" v="167" actId="404"/>
        <pc:sldMkLst>
          <pc:docMk/>
          <pc:sldMk cId="0" sldId="262"/>
        </pc:sldMkLst>
        <pc:spChg chg="mod">
          <ac:chgData name="一心 冨永" userId="cee5b40153102c76" providerId="LiveId" clId="{BF059334-9725-4C41-8FAA-8D4F19B9D571}" dt="2026-09-09T12:37:29.900" v="156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16.357" v="152" actId="403"/>
          <ac:spMkLst>
            <pc:docMk/>
            <pc:sldMk cId="0" sldId="262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12.637" v="150" actId="403"/>
          <ac:spMkLst>
            <pc:docMk/>
            <pc:sldMk cId="0" sldId="262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41" v="159" actId="403"/>
          <ac:spMkLst>
            <pc:docMk/>
            <pc:sldMk cId="0" sldId="262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50.826" v="161" actId="403"/>
          <ac:spMkLst>
            <pc:docMk/>
            <pc:sldMk cId="0" sldId="262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54.427" v="163" actId="403"/>
          <ac:spMkLst>
            <pc:docMk/>
            <pc:sldMk cId="0" sldId="262"/>
            <ac:spMk id="1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8:28.462" v="167" actId="404"/>
          <ac:spMkLst>
            <pc:docMk/>
            <pc:sldMk cId="0" sldId="262"/>
            <ac:spMk id="17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9:43.230" v="185" actId="403"/>
        <pc:sldMkLst>
          <pc:docMk/>
          <pc:sldMk cId="0" sldId="263"/>
        </pc:sldMkLst>
        <pc:spChg chg="mod">
          <ac:chgData name="一心 冨永" userId="cee5b40153102c76" providerId="LiveId" clId="{BF059334-9725-4C41-8FAA-8D4F19B9D571}" dt="2026-09-09T12:38:58.387" v="170" actId="403"/>
          <ac:spMkLst>
            <pc:docMk/>
            <pc:sldMk cId="0" sldId="263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40.065" v="183" actId="403"/>
          <ac:spMkLst>
            <pc:docMk/>
            <pc:sldMk cId="0" sldId="263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16.604" v="178" actId="404"/>
          <ac:spMkLst>
            <pc:docMk/>
            <pc:sldMk cId="0" sldId="263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7.049" v="182" actId="403"/>
          <ac:spMkLst>
            <pc:docMk/>
            <pc:sldMk cId="0" sldId="263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1.049" v="180" actId="403"/>
          <ac:spMkLst>
            <pc:docMk/>
            <pc:sldMk cId="0" sldId="263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4.230" v="181" actId="403"/>
          <ac:spMkLst>
            <pc:docMk/>
            <pc:sldMk cId="0" sldId="263"/>
            <ac:spMk id="1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43.230" v="185" actId="403"/>
          <ac:spMkLst>
            <pc:docMk/>
            <pc:sldMk cId="0" sldId="263"/>
            <ac:spMk id="17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0:53.143" v="199" actId="20577"/>
        <pc:sldMkLst>
          <pc:docMk/>
          <pc:sldMk cId="0" sldId="264"/>
        </pc:sldMkLst>
        <pc:spChg chg="mod">
          <ac:chgData name="一心 冨永" userId="cee5b40153102c76" providerId="LiveId" clId="{BF059334-9725-4C41-8FAA-8D4F19B9D571}" dt="2026-09-09T12:40:10.507" v="187" actId="403"/>
          <ac:spMkLst>
            <pc:docMk/>
            <pc:sldMk cId="0" sldId="264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16.920" v="192" actId="403"/>
          <ac:spMkLst>
            <pc:docMk/>
            <pc:sldMk cId="0" sldId="264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13.477" v="189" actId="403"/>
          <ac:spMkLst>
            <pc:docMk/>
            <pc:sldMk cId="0" sldId="264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22.583" v="194" actId="403"/>
          <ac:spMkLst>
            <pc:docMk/>
            <pc:sldMk cId="0" sldId="264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53.143" v="199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2:22.980" v="215" actId="403"/>
        <pc:sldMkLst>
          <pc:docMk/>
          <pc:sldMk cId="0" sldId="265"/>
        </pc:sldMkLst>
        <pc:spChg chg="mod">
          <ac:chgData name="一心 冨永" userId="cee5b40153102c76" providerId="LiveId" clId="{BF059334-9725-4C41-8FAA-8D4F19B9D571}" dt="2026-09-09T12:41:07.597" v="201" actId="403"/>
          <ac:spMkLst>
            <pc:docMk/>
            <pc:sldMk cId="0" sldId="265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7.082" v="214" actId="403"/>
          <ac:spMkLst>
            <pc:docMk/>
            <pc:sldMk cId="0" sldId="265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09.832" v="203" actId="403"/>
          <ac:spMkLst>
            <pc:docMk/>
            <pc:sldMk cId="0" sldId="265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3.940" v="213" actId="403"/>
          <ac:spMkLst>
            <pc:docMk/>
            <pc:sldMk cId="0" sldId="265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11.872" v="205" actId="403"/>
          <ac:spMkLst>
            <pc:docMk/>
            <pc:sldMk cId="0" sldId="265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1.293" v="212" actId="403"/>
          <ac:spMkLst>
            <pc:docMk/>
            <pc:sldMk cId="0" sldId="265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2:22.980" v="215" actId="403"/>
          <ac:spMkLst>
            <pc:docMk/>
            <pc:sldMk cId="0" sldId="265"/>
            <ac:spMk id="16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3:22.027" v="221" actId="403"/>
        <pc:sldMkLst>
          <pc:docMk/>
          <pc:sldMk cId="0" sldId="266"/>
        </pc:sldMkLst>
        <pc:spChg chg="mod">
          <ac:chgData name="一心 冨永" userId="cee5b40153102c76" providerId="LiveId" clId="{BF059334-9725-4C41-8FAA-8D4F19B9D571}" dt="2026-09-09T12:42:53.213" v="218" actId="403"/>
          <ac:spMkLst>
            <pc:docMk/>
            <pc:sldMk cId="0" sldId="266"/>
            <ac:spMk id="1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06.922" v="219" actId="403"/>
          <ac:spMkLst>
            <pc:docMk/>
            <pc:sldMk cId="0" sldId="266"/>
            <ac:spMk id="1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16.906" v="220" actId="403"/>
          <ac:spMkLst>
            <pc:docMk/>
            <pc:sldMk cId="0" sldId="266"/>
            <ac:spMk id="2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22.027" v="221" actId="403"/>
          <ac:spMkLst>
            <pc:docMk/>
            <pc:sldMk cId="0" sldId="266"/>
            <ac:spMk id="22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4:12.810" v="240" actId="20577"/>
        <pc:sldMkLst>
          <pc:docMk/>
          <pc:sldMk cId="0" sldId="267"/>
        </pc:sldMkLst>
        <pc:graphicFrameChg chg="modGraphic">
          <ac:chgData name="一心 冨永" userId="cee5b40153102c76" providerId="LiveId" clId="{BF059334-9725-4C41-8FAA-8D4F19B9D571}" dt="2026-09-09T12:44:12.810" v="240" actId="20577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mod">
        <pc:chgData name="一心 冨永" userId="cee5b40153102c76" providerId="LiveId" clId="{BF059334-9725-4C41-8FAA-8D4F19B9D571}" dt="2026-09-11T00:19:11.751" v="267" actId="20577"/>
        <pc:sldMkLst>
          <pc:docMk/>
          <pc:sldMk cId="0" sldId="268"/>
        </pc:sldMkLst>
        <pc:spChg chg="mod">
          <ac:chgData name="一心 冨永" userId="cee5b40153102c76" providerId="LiveId" clId="{BF059334-9725-4C41-8FAA-8D4F19B9D571}" dt="2026-09-11T00:18:45.538" v="264" actId="20577"/>
          <ac:spMkLst>
            <pc:docMk/>
            <pc:sldMk cId="0" sldId="268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9:11.751" v="267" actId="20577"/>
          <ac:spMkLst>
            <pc:docMk/>
            <pc:sldMk cId="0" sldId="268"/>
            <ac:spMk id="11" creationId="{00000000-0000-0000-0000-000000000000}"/>
          </ac:spMkLst>
        </pc:spChg>
      </pc:sldChg>
      <pc:sldChg chg="delSp modSp mod">
        <pc:chgData name="一心 冨永" userId="cee5b40153102c76" providerId="LiveId" clId="{BF059334-9725-4C41-8FAA-8D4F19B9D571}" dt="2026-09-11T00:19:53.798" v="271" actId="21"/>
        <pc:sldMkLst>
          <pc:docMk/>
          <pc:sldMk cId="0" sldId="270"/>
        </pc:sldMkLst>
        <pc:spChg chg="del">
          <ac:chgData name="一心 冨永" userId="cee5b40153102c76" providerId="LiveId" clId="{BF059334-9725-4C41-8FAA-8D4F19B9D571}" dt="2026-09-11T00:19:49.757" v="270" actId="21"/>
          <ac:spMkLst>
            <pc:docMk/>
            <pc:sldMk cId="0" sldId="270"/>
            <ac:spMk id="11" creationId="{00000000-0000-0000-0000-000000000000}"/>
          </ac:spMkLst>
        </pc:spChg>
        <pc:spChg chg="del mod">
          <ac:chgData name="一心 冨永" userId="cee5b40153102c76" providerId="LiveId" clId="{BF059334-9725-4C41-8FAA-8D4F19B9D571}" dt="2026-09-11T00:19:53.798" v="271" actId="21"/>
          <ac:spMkLst>
            <pc:docMk/>
            <pc:sldMk cId="0" sldId="270"/>
            <ac:spMk id="1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634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本日は訪問入浴介護についてお話しします。テーマは「自宅でお風呂に入る権利」。在宅で入浴が困難な方に、どう関わり、どう連携できるかをお伝えします。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入浴困難は「できない理由」が複数重なって起こります。清拭だけでは代替できない意義があることを押さえてください。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3つの選択肢それぞれに限界があること、そしてその間に空白地帯があることが今日の出発点です。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この表が本日の中心です。訪問看護・訪問介護の入浴介助も比較に入れました。訪問入浴の違いは、専用浴槽を持参するため浴室環境に左右されない点と、3名体制で移乗できる点です。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4条件のうち3つまでなら他サービスでも満たせます。4つ同時、という点が訪問入浴の存在理由です。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準備・入浴・片付けの3区分、各15分で計45分以内です。入浴可否の判断と記録・連絡が看護師の関わる部分になります。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なぜ3名なのか、という質問をよく受けます。安全確保と、看護師が観察に専念できる体制のためです。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ここが訪問入浴の医療的価値です。褥瘡の初期発赤を最初に見つけるのは、入浴の場面が非常に多いです。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訪問入浴は介護保険サービスなので医療行為はできません。だから訪問看護との連携が前提になります。この線引きを明確にお伝えしてください。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本日いちばんお願いしたい点です。特に訪問看護ステーションの方に向けて、同日訪問と事前相談をお願いしてください。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デイサービスの方に特にお伝えしたい点です。奪い合いではなく、通所が難しくなった段階での受け皿としてお考えください。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単位数が高いという指摘は当然あります。何が含まれているかを分解して説明できるようにしておきます。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数字では伝わらない部分です。ご家族の負担軽減という側面も強調してください。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4点に整理しました。最後のメッセージ——迷った段階でご相談いただきたい、を強調して締めます。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ご相談は電話が最も早いです。初回アセスメントは無料である点をお伝えください。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地域在宅医療情報交換会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517904"/>
            <a:ext cx="1105783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自宅でお風呂に入る権利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0175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訪問入浴介護の役割と可能性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3950208"/>
            <a:ext cx="11057839" cy="18288"/>
          </a:xfrm>
          <a:prstGeom prst="rect">
            <a:avLst/>
          </a:prstGeom>
          <a:solidFill>
            <a:srgbClr val="3D6E8C"/>
          </a:solidFill>
          <a:ln w="12700">
            <a:solidFill>
              <a:srgbClr val="3D6E8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566928" y="4206240"/>
            <a:ext cx="1105783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17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管理者・看護師　冨永　一心</a:t>
            </a:r>
            <a:endParaRPr lang="en-US" sz="17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2026年10月15日（木）19:00〜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「在宅で入浴できない」という現実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入浴を阻む壁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浴槽をまたげない・立位が保てない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浴室が狭く介助スペースがない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ご家族だけでは支えきれない（転倒・腰痛）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医療的ケアがあり不安で踏み切れない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通所への外出そのものが負担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6242152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6461608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入浴がもつ意義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清潔保持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全身の洗浄・洗髪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感染予防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尿路・呼吸器感染リスクの低減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皮膚トラブル予防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褥瘡・浸軟の抑制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QOL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温熱による安楽・睡眠の改善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生きる意欲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「人として当たり前」の回復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566929" y="4828032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結果として「週1回の清拭のみ」「</a:t>
            </a:r>
            <a:r>
              <a:rPr lang="ja-JP" alt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数か月入浴なし」という状態が生まれます。</a:t>
            </a:r>
            <a:endParaRPr lang="en-US" sz="1500" dirty="0">
              <a:solidFill>
                <a:srgbClr val="1C2833"/>
              </a:solidFill>
              <a:latin typeface="Meiryo" pitchFamily="34" charset="0"/>
              <a:ea typeface="Meiryo" pitchFamily="34" charset="-122"/>
              <a:cs typeface="Meiryo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入浴は贅沢ではなく、在宅療養を支える医療的・生活的インフラです。</a:t>
            </a:r>
          </a:p>
          <a:p>
            <a:pPr marL="0" indent="0">
              <a:lnSpc>
                <a:spcPct val="130000"/>
              </a:lnSpc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入浴支援の選択肢と、その限界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訪問介護・訪問看護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4465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自宅の浴室を使い、ヘルパーや看護師が清拭・部分浴も含む。
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浴室環境に左右され原則1名対応。全介助や寝たきりの方は難しい。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01643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</a:t>
            </a: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デイサービス入浴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週複数回、社会参加とあわせて実施できる。
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通所という外出が前提。寝たきり・全介助・医療的ケアがあると受け入れ困難。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72933" y="1536192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専用浴槽を持ち込み、自宅で全身浴を提供。
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特徴：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看護師同行で重度でも対応可。移動の負担がゼロ。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66928" y="4590288"/>
            <a:ext cx="11057839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2700">
            <a:solidFill>
              <a:srgbClr val="FDF3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 txBox="1"/>
          <p:nvPr/>
        </p:nvSpPr>
        <p:spPr>
          <a:xfrm>
            <a:off x="822960" y="4590288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B9770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空白地帯：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デイには行けない、でも清拭では足りない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</a:t>
            </a:r>
          </a:p>
          <a:p>
            <a:pPr marL="0" indent="0">
              <a:buNone/>
            </a:pPr>
            <a:r>
              <a:rPr lang="ja-JP" alt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　　　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重度化した在宅療養者ほど、この谷間に落ちます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5つの入浴支援を比べる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659500"/>
              </p:ext>
            </p:extLst>
          </p:nvPr>
        </p:nvGraphicFramePr>
        <p:xfrm>
          <a:off x="566928" y="1444752"/>
          <a:ext cx="11045952" cy="296265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36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デイ入浴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自宅で受けられる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全身浴ができる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浴室の環境に左右されない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看護師が同行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複数名での移乗介助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重度・寝たきり対応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バイタル・皮膚観察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在宅チームへ情報共有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3159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対応できる</a:t>
            </a:r>
            <a:r>
              <a:rPr lang="en-US" sz="1050" dirty="0">
                <a:solidFill>
                  <a:srgbClr val="F39C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△ 事業所・状態により異なる</a:t>
            </a:r>
            <a:r>
              <a:rPr lang="en-US" sz="10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✕ 対応が難しい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※「訪問看護」「訪問介護」欄は自宅の浴室での入浴介助を指します。清拭・部分浴はサービス種別を問わず実施される方法です。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4956048"/>
            <a:ext cx="11057839" cy="603504"/>
          </a:xfrm>
          <a:prstGeom prst="roundRect">
            <a:avLst>
              <a:gd name="adj" fmla="val 757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822960" y="4956048"/>
            <a:ext cx="10545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訪問入浴の利用者は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要介護5が48.2%、要介護4が25.1%</a:t>
            </a:r>
            <a:r>
              <a:rPr lang="en-US" sz="1400" b="1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—約4分の3が要介護4〜5の重度の方です。</a:t>
            </a: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（日本在宅介護協会 2025年調査）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訪問入浴にしかできないこと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1617688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1617688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移動・外出の負担なし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1680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432440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4432440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473120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全身浴を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473120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洗髪・背部まで温める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96432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7247192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47192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287872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看護師付きで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287872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毎回のアセスメント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11183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10061943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 txBox="1"/>
          <p:nvPr/>
        </p:nvSpPr>
        <p:spPr>
          <a:xfrm>
            <a:off x="10061943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02623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重度でも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102623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寝たきり</a:t>
            </a:r>
            <a:r>
              <a:rPr lang="ja-JP" alt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・全介助でも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3493008"/>
            <a:ext cx="11057839" cy="1170432"/>
          </a:xfrm>
          <a:prstGeom prst="roundRect">
            <a:avLst>
              <a:gd name="adj" fmla="val 546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 txBox="1"/>
          <p:nvPr/>
        </p:nvSpPr>
        <p:spPr>
          <a:xfrm>
            <a:off x="886968" y="3493008"/>
            <a:ext cx="10417759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</a:t>
            </a:r>
            <a:r>
              <a:rPr lang="en-US" sz="20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4つの条件</a:t>
            </a: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を同時に満たせるのは、在宅サービスの中で</a:t>
            </a:r>
            <a:r>
              <a:rPr lang="en-US" sz="20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訪問入浴介護だけ</a:t>
            </a: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28032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どれか1つなら他のサービスでも代替できます。しかし「重度化しても、自宅のまま、湯船に浸かり続ける」ことを保証できるのは訪問入浴だけ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 err="1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ここが在宅療養の継続を左右します</a:t>
            </a: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訪問の流れ（サービス提供時間 45分以内）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1830781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1830781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準備・設置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到着・ご挨拶／当日の体調確認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専用浴槽の搬入・組立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バイタル確認と入浴可否の判断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045610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356506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5620360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5620360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66234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　浴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466234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入浴中の全身観察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（褥瘡・浮腫・皮膚の状態）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835189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8146085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9409938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 txBox="1"/>
          <p:nvPr/>
        </p:nvSpPr>
        <p:spPr>
          <a:xfrm>
            <a:off x="9409938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55813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片付け・記録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255813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更衣・保湿ケア／整容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機材の撤収・原状復帰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記録と関係職種への連絡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 txBox="1"/>
          <p:nvPr/>
        </p:nvSpPr>
        <p:spPr>
          <a:xfrm>
            <a:off x="786384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入浴できないと判断した場合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発熱・血圧変動・全身状態の悪化時は、看護師の判断で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清拭や部分浴に切り替え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。中止時もご家族・ケアマネジャーへ理由を報告します。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242152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 txBox="1"/>
          <p:nvPr/>
        </p:nvSpPr>
        <p:spPr>
          <a:xfrm>
            <a:off x="6461608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住環境への配慮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61608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給湯は</a:t>
            </a:r>
            <a:r>
              <a:rPr lang="en-US" sz="1250" b="1" dirty="0" err="1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車両または</a:t>
            </a:r>
            <a:r>
              <a:rPr lang="ja-JP" alt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ご自宅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の給湯設備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から。ベッドサイドに約2畳</a:t>
            </a:r>
            <a:r>
              <a:rPr lang="ja-JP" alt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程</a:t>
            </a:r>
            <a:r>
              <a:rPr lang="en-US" sz="1250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のスペースがあれば設置可能。床・寝具の養生も行います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スタッフ体制と専門性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860655" cy="2788920"/>
          </a:xfrm>
          <a:prstGeom prst="roundRect">
            <a:avLst>
              <a:gd name="adj" fmla="val 196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786384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47381" y="172364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1名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682496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2139696"/>
            <a:ext cx="5421743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入浴前後の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アセスメント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（バイタル・全身状態）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その場での判断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観察と記録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（処置は訪問看護へ）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急変時の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初期判断と主治医・訪問看護師への連絡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情報提供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628751" y="1517904"/>
            <a:ext cx="4996016" cy="2788920"/>
          </a:xfrm>
          <a:prstGeom prst="roundRect">
            <a:avLst>
              <a:gd name="adj" fmla="val 196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6848207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6848207" y="170078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2名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744319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介護スタッフ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848207" y="2139696"/>
            <a:ext cx="45571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浴槽の搬入・設置・撤去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移乗介助（2名で安全に）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洗身・洗髪、更衣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居室の養生と原状復帰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66928" y="4553712"/>
            <a:ext cx="11057839" cy="960120"/>
          </a:xfrm>
          <a:prstGeom prst="roundRect">
            <a:avLst>
              <a:gd name="adj" fmla="val 571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 txBox="1"/>
          <p:nvPr/>
        </p:nvSpPr>
        <p:spPr>
          <a:xfrm>
            <a:off x="822960" y="4631718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3名体制は省令上の要件です — 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1回の訪問に看護職員1名＋介護職員2名の計3名と厚生労働省令で定められています。移乗を2名で担うため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転倒・皮膚剥離のリスクを抑え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、看護師は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観察と判断に専念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できます。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入浴は「全身をみる場」です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630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衣服を脱いだ全身を、明るい場所で、毎回。これは在宅の中で数少ない機会です。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86384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早期発見できるもの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仙骨部・踵部の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褥瘡の発赤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下腿・足背の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浮腫の増悪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白癬・湿疹・スキンテア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内出血・打撲痕（転倒の兆候）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19930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4539386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体格・栄養の把握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4539386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脱衣時の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体型変化・筋肉量の減少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骨突出の進行（褥瘡リスク上昇）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皮膚の乾燥・ツルゴール低下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72933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8292389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その日のうちに共有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8292389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創部の状態を報告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訪問看護師へ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観察所見の申し送り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ケアマネジャーへ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状態変化の連絡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必要時は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写真記録</a:t>
            </a: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を添えて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700016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 txBox="1"/>
          <p:nvPr/>
        </p:nvSpPr>
        <p:spPr>
          <a:xfrm>
            <a:off x="822960" y="4700016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週1〜2回の入浴は、週1〜2回の全身アセスメントでもあります。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訪問入浴と訪問看護の役割分担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訪問入浴は介護保険サービスであり、</a:t>
            </a: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医療行為は行えません</a:t>
            </a: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。だからこそ訪問看護との連携が欠かせません。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86384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訪問入浴が担うこと</a:t>
            </a:r>
            <a:endParaRPr lang="en-US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入浴可否の判断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入浴時の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全身観察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（褥瘡・浮腫・皮膚）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洗身・洗髪と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日常的な保湿ケア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記録と当日中の報告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242152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6461608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訪問看護におつなぎすること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61608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、薬剤の塗布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点滴・注射・採血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カテーテル・ストーマの管理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喀痰吸引・経管栄養の管理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医師の指示に基づく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医療的ケア全般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66928" y="47365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822960" y="4736592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私たちの役割は</a:t>
            </a:r>
            <a:r>
              <a:rPr lang="en-US" b="1" dirty="0" err="1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「見つけて、つなぐ」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こと。処置は訪問看護へ</a:t>
            </a:r>
            <a:endParaRPr lang="en-US" dirty="0">
              <a:solidFill>
                <a:srgbClr val="1C2833"/>
              </a:solidFill>
              <a:latin typeface="Meiryo" pitchFamily="34" charset="0"/>
              <a:ea typeface="Meiryo" pitchFamily="34" charset="-122"/>
              <a:cs typeface="Meiryo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この線引きを明確にすることが、安全な在宅ケアにつながります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訪問看護のみなさまへ ── 連携のお願い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訪問日を合わせてください</a:t>
            </a:r>
            <a:endParaRPr lang="en-US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入浴直後は皮膚が清潔で、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創部の観察と処置に最も適した状態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です。同日・入浴後にご訪問いただけると、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処置の条件が整います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19930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見てほしい部位を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前回の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処置内容と注意部位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を共有いただければ、その点を重点的に観察し、当日中に連絡ノート・電話・必要時は写真でお返しします。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8072933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医療的ケアは事前に相談</a:t>
            </a:r>
            <a:endParaRPr lang="en-US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気管切開・経管栄養・在宅酸素など。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主治医の指示内容と留意点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を共有いただければ、受け入れ可否と入浴時の注意点を一緒に検討します。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66928" y="4608576"/>
            <a:ext cx="11057839" cy="868680"/>
          </a:xfrm>
          <a:prstGeom prst="roundRect">
            <a:avLst>
              <a:gd name="adj" fmla="val 7368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 txBox="1"/>
          <p:nvPr/>
        </p:nvSpPr>
        <p:spPr>
          <a:xfrm>
            <a:off x="841248" y="4608576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「この状態で入浴させてよいか」——迷った時点でご連絡ください。一緒に判断させてください。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在宅チームの一員として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2286000" cy="1481328"/>
          </a:xfrm>
          <a:prstGeom prst="roundRect">
            <a:avLst>
              <a:gd name="adj" fmla="val 4321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658368" y="1700784"/>
            <a:ext cx="21031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</a:t>
            </a:r>
            <a:endParaRPr lang="en-US" sz="16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50" dirty="0">
                <a:solidFill>
                  <a:srgbClr val="D6F3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看護師1名＋介護2名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907792" y="1700784"/>
            <a:ext cx="38404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⇄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364992" y="1700784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3566160" y="1700784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主治医・在宅医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創部・全身状態の報告／指示の確認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595464" y="1700784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 txBox="1"/>
          <p:nvPr/>
        </p:nvSpPr>
        <p:spPr>
          <a:xfrm>
            <a:off x="7796632" y="1700784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訪問看護ステーション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観察所見の共有／医療処置の依頼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3364992" y="2487168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3566160" y="2487168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ケアマネジャー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状態変化・生活課題のフィードバック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95464" y="2487168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 txBox="1"/>
          <p:nvPr/>
        </p:nvSpPr>
        <p:spPr>
          <a:xfrm>
            <a:off x="7796632" y="2487168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デイサービス・訪問介護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入浴日の分担／スキンケアの継続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5382616" cy="1517904"/>
          </a:xfrm>
          <a:prstGeom prst="roundRect">
            <a:avLst>
              <a:gd name="adj" fmla="val 361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 txBox="1"/>
          <p:nvPr/>
        </p:nvSpPr>
        <p:spPr>
          <a:xfrm>
            <a:off x="786384" y="360273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「競合」ではありません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" y="4005072"/>
            <a:ext cx="49437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デイサービスに通えている間はデイでの入浴を。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体調やADLの低下で通所が難しくなった時期</a:t>
            </a: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に訪問入浴が引き継ぐ、という補完関係です。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42152" y="3419856"/>
            <a:ext cx="5382616" cy="1517904"/>
          </a:xfrm>
          <a:prstGeom prst="roundRect">
            <a:avLst>
              <a:gd name="adj" fmla="val 3614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 txBox="1"/>
          <p:nvPr/>
        </p:nvSpPr>
        <p:spPr>
          <a:xfrm>
            <a:off x="6461608" y="360273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併用が最も現実的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61608" y="4005072"/>
            <a:ext cx="49437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「デイ入浴＋訪問入浴」「訪問入浴の観察＋訪問看護の処置」。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役割を分け合うことで在宅の限界点が延びます。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介護報酬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単位数と主な加算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727249"/>
              </p:ext>
            </p:extLst>
          </p:nvPr>
        </p:nvGraphicFramePr>
        <p:xfrm>
          <a:off x="566928" y="1481328"/>
          <a:ext cx="6309360" cy="3169580"/>
        </p:xfrm>
        <a:graphic>
          <a:graphicData uri="http://schemas.openxmlformats.org/drawingml/2006/table">
            <a:tbl>
              <a:tblPr/>
              <a:tblGrid>
                <a:gridCol w="4343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サービス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訪問入浴介護費（1回）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看護師1＋介護2の3名体制・全身浴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1,266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清拭・部分浴（1回）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1,139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主な加算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初回加算（月1回）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看取り連携体制加算（2024年新設）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9158739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認知症専門ケア加算（Ⅰ）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認知症専門ケア加算（Ⅱ）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介護職員等処遇改善加算 加算Ⅱ（ロ）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12.7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％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7349195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90118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※2024年4月改定後の単位数。処遇改善加算は加算率。単価は地域区分により異なります。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114032" y="1481328"/>
            <a:ext cx="4510735" cy="3310128"/>
          </a:xfrm>
          <a:prstGeom prst="roundRect">
            <a:avLst>
              <a:gd name="adj" fmla="val 165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7333488" y="1664208"/>
            <a:ext cx="40718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単位数をどう読むか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33488" y="2066544"/>
            <a:ext cx="4071823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3名（うち看護職員1名）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が同時に訪問（厚生労働省令で定められた体制）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専用浴槽・給湯設備の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持ち込みと設置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清拭では届かない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バイタル測定と全身観察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情報共有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33488" y="4114800"/>
            <a:ext cx="407182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入浴のみの報酬ではなく、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看護アセスメントを含んだ包括的なケアの対価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としてご検討ください。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利用者・ご家族の声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現場で聞かれる言葉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950976" y="1700784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「毎週のお風呂が楽しみで、それだけで気持ちが前向きになります。」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432304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80代・要介護</a:t>
            </a:r>
            <a:r>
              <a:rPr lang="ja-JP" alt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５</a:t>
            </a: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・ご本人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090672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950976" y="3218688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「一人では絶対に無理でした。プロに任せることで、私も安心して介護できるようになりました。」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950208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ja-JP" alt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７</a:t>
            </a: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0代・ご家族（介護者）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828032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入浴の効果は清潔だけにとどまりません。</a:t>
            </a: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ご本人の意欲と、介護するご家族の負担軽減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——その両方に届くケアです。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訪問入浴介護が担う役割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105783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入浴困難の「空白地帯」を埋める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——デイに通えず、清拭では足りない方の受け皿。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「自宅で・全身浴を・看護師付きで・重度でも」の4条件を唯一満たす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週1〜2回の全身アセスメントの場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——褥瘡・浮腫・栄養状態の変化を早期に捉える。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医療行為は行わず「見つけて、つなぐ」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——訪問看護と役割を分け合い、その日のうちに情報を共有。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3767328"/>
            <a:ext cx="11057839" cy="1234440"/>
          </a:xfrm>
          <a:prstGeom prst="roundRect">
            <a:avLst>
              <a:gd name="adj" fmla="val 5185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886968" y="3767328"/>
            <a:ext cx="104177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「もう入浴は難しいかもしれない」と感じた時が、</a:t>
            </a:r>
            <a:endParaRPr lang="en-US" sz="19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訪問入浴をご検討いただくタイミングです。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3892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導入の可否だけでもご相談ください。状態を伺ったうえで、他サービスとの組み合わせを含めてご提案します。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4124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連絡先・お問い合わせ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078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30428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2304288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冨永　一心（管理者・看護師）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77977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779776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093-695-7766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5526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FAX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481328" y="3255264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093-695-7767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4700016"/>
            <a:ext cx="11057839" cy="786384"/>
          </a:xfrm>
          <a:prstGeom prst="roundRect">
            <a:avLst>
              <a:gd name="adj" fmla="val 814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749808" y="4700016"/>
            <a:ext cx="1069207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まずはご相談から。お気軽にどうぞ。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14416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初回アセスメントは無料でお伺いします。導入の可否判断からお手伝いします。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1066</Words>
  <Application>Microsoft Office PowerPoint</Application>
  <PresentationFormat>ワイド画面</PresentationFormat>
  <Paragraphs>306</Paragraphs>
  <Slides>15</Slides>
  <Notes>15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8" baseType="lpstr">
      <vt:lpstr>Meiryo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自宅でお風呂に入る権利 — 訪問入浴介護の役割と可能性</dc:title>
  <dc:subject>PptxGenJS Presentation</dc:subject>
  <dc:creator>アップルハート八幡西訪問入浴センター</dc:creator>
  <cp:lastModifiedBy>一心 冨永</cp:lastModifiedBy>
  <cp:revision>1</cp:revision>
  <dcterms:created xsi:type="dcterms:W3CDTF">2026-09-09T12:06:52Z</dcterms:created>
  <dcterms:modified xsi:type="dcterms:W3CDTF">2026-09-11T00:19:54Z</dcterms:modified>
</cp:coreProperties>
</file>